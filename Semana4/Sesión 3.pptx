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embeddedFontLst>
    <p:embeddedFont>
      <p:font typeface="Old Standard TT"/>
      <p:regular r:id="rId26"/>
      <p:bold r:id="rId27"/>
      <p: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OldStandardTT-regular.fntdata"/><Relationship Id="rId25" Type="http://schemas.openxmlformats.org/officeDocument/2006/relationships/slide" Target="slides/slide19.xml"/><Relationship Id="rId28" Type="http://schemas.openxmlformats.org/officeDocument/2006/relationships/font" Target="fonts/OldStandardTT-italic.fntdata"/><Relationship Id="rId27" Type="http://schemas.openxmlformats.org/officeDocument/2006/relationships/font" Target="fonts/OldStandardTT-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83027f5fea_0_16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83027f5fea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83027f5fea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83027f5fea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Pero si esto no pasa, nos aterramos y nos bloqueamos.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83027f5fea_0_17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83027f5fea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83027f5fea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83027f5fea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83027f5fea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83027f5fea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83027f5fea_0_21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83027f5fea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83027f5fea_0_22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83027f5fea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83027f5fea_0_22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83027f5fea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83027f5fea_0_23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83027f5fea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83027f5fea_0_24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83027f5fea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83027f5fea_0_24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83027f5fea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83027f5fea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83027f5fea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Pero si esto no pasa, nos aterramos y nos bloqueamos.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83027f5fea_0_26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83027f5fea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83027f5fea_0_26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83027f5fea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83027f5fea_0_27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83027f5fea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83027f5fea_0_32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83027f5fea_0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83027f5fea_0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83027f5fea_0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83027f5fea_0_33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83027f5fea_0_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83027f5fea_0_34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83027f5fea_0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54" name="Shape 54"/>
        <p:cNvGrpSpPr/>
        <p:nvPr/>
      </p:nvGrpSpPr>
      <p:grpSpPr>
        <a:xfrm>
          <a:off x="0" y="0"/>
          <a:ext cx="0" cy="0"/>
          <a:chOff x="0" y="0"/>
          <a:chExt cx="0" cy="0"/>
        </a:xfrm>
      </p:grpSpPr>
      <p:sp>
        <p:nvSpPr>
          <p:cNvPr id="55" name="Google Shape;55;p14"/>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6" name="Google Shape;56;p14"/>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57" name="Google Shape;57;p14"/>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58" name="Google Shape;58;p14"/>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60" name="Shape 60"/>
        <p:cNvGrpSpPr/>
        <p:nvPr/>
      </p:nvGrpSpPr>
      <p:grpSpPr>
        <a:xfrm>
          <a:off x="0" y="0"/>
          <a:ext cx="0" cy="0"/>
          <a:chOff x="0" y="0"/>
          <a:chExt cx="0" cy="0"/>
        </a:xfrm>
      </p:grpSpPr>
      <p:cxnSp>
        <p:nvCxnSpPr>
          <p:cNvPr id="61" name="Google Shape;61;p15"/>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62" name="Google Shape;62;p15"/>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63" name="Google Shape;63;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4" name="Shape 64"/>
        <p:cNvGrpSpPr/>
        <p:nvPr/>
      </p:nvGrpSpPr>
      <p:grpSpPr>
        <a:xfrm>
          <a:off x="0" y="0"/>
          <a:ext cx="0" cy="0"/>
          <a:chOff x="0" y="0"/>
          <a:chExt cx="0" cy="0"/>
        </a:xfrm>
      </p:grpSpPr>
      <p:sp>
        <p:nvSpPr>
          <p:cNvPr id="65" name="Google Shape;65;p16"/>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7" name="Google Shape;67;p16"/>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68" name="Google Shape;68;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9" name="Shape 69"/>
        <p:cNvGrpSpPr/>
        <p:nvPr/>
      </p:nvGrpSpPr>
      <p:grpSpPr>
        <a:xfrm>
          <a:off x="0" y="0"/>
          <a:ext cx="0" cy="0"/>
          <a:chOff x="0" y="0"/>
          <a:chExt cx="0" cy="0"/>
        </a:xfrm>
      </p:grpSpPr>
      <p:sp>
        <p:nvSpPr>
          <p:cNvPr id="70" name="Google Shape;70;p1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1" name="Google Shape;71;p17"/>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72" name="Google Shape;72;p17"/>
          <p:cNvSpPr txBox="1"/>
          <p:nvPr>
            <p:ph idx="2" type="body"/>
          </p:nvPr>
        </p:nvSpPr>
        <p:spPr>
          <a:xfrm>
            <a:off x="48324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73" name="Google Shape;73;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4" name="Shape 74"/>
        <p:cNvGrpSpPr/>
        <p:nvPr/>
      </p:nvGrpSpPr>
      <p:grpSpPr>
        <a:xfrm>
          <a:off x="0" y="0"/>
          <a:ext cx="0" cy="0"/>
          <a:chOff x="0" y="0"/>
          <a:chExt cx="0" cy="0"/>
        </a:xfrm>
      </p:grpSpPr>
      <p:sp>
        <p:nvSpPr>
          <p:cNvPr id="75" name="Google Shape;75;p1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6" name="Google Shape;76;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7" name="Shape 77"/>
        <p:cNvGrpSpPr/>
        <p:nvPr/>
      </p:nvGrpSpPr>
      <p:grpSpPr>
        <a:xfrm>
          <a:off x="0" y="0"/>
          <a:ext cx="0" cy="0"/>
          <a:chOff x="0" y="0"/>
          <a:chExt cx="0" cy="0"/>
        </a:xfrm>
      </p:grpSpPr>
      <p:sp>
        <p:nvSpPr>
          <p:cNvPr id="78" name="Google Shape;78;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9" name="Google Shape;79;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80" name="Google Shape;80;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81" name="Shape 81"/>
        <p:cNvGrpSpPr/>
        <p:nvPr/>
      </p:nvGrpSpPr>
      <p:grpSpPr>
        <a:xfrm>
          <a:off x="0" y="0"/>
          <a:ext cx="0" cy="0"/>
          <a:chOff x="0" y="0"/>
          <a:chExt cx="0" cy="0"/>
        </a:xfrm>
      </p:grpSpPr>
      <p:sp>
        <p:nvSpPr>
          <p:cNvPr id="82" name="Google Shape;82;p20"/>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83" name="Google Shape;83;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4" name="Shape 84"/>
        <p:cNvGrpSpPr/>
        <p:nvPr/>
      </p:nvGrpSpPr>
      <p:grpSpPr>
        <a:xfrm>
          <a:off x="0" y="0"/>
          <a:ext cx="0" cy="0"/>
          <a:chOff x="0" y="0"/>
          <a:chExt cx="0" cy="0"/>
        </a:xfrm>
      </p:grpSpPr>
      <p:sp>
        <p:nvSpPr>
          <p:cNvPr id="85" name="Google Shape;85;p21"/>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6" name="Google Shape;86;p21"/>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87" name="Google Shape;87;p21"/>
          <p:cNvSpPr txBox="1"/>
          <p:nvPr>
            <p:ph type="title"/>
          </p:nvPr>
        </p:nvSpPr>
        <p:spPr>
          <a:xfrm>
            <a:off x="265500" y="1382350"/>
            <a:ext cx="4045200" cy="1333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88" name="Google Shape;88;p21"/>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9" name="Google Shape;89;p21"/>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1600"/>
              </a:spcBef>
              <a:spcAft>
                <a:spcPts val="0"/>
              </a:spcAft>
              <a:buClr>
                <a:schemeClr val="accent1"/>
              </a:buClr>
              <a:buSzPts val="1400"/>
              <a:buChar char="○"/>
              <a:defRPr>
                <a:solidFill>
                  <a:schemeClr val="accent1"/>
                </a:solidFill>
              </a:defRPr>
            </a:lvl2pPr>
            <a:lvl3pPr indent="-317500" lvl="2" marL="1371600">
              <a:spcBef>
                <a:spcPts val="1600"/>
              </a:spcBef>
              <a:spcAft>
                <a:spcPts val="0"/>
              </a:spcAft>
              <a:buClr>
                <a:schemeClr val="accent1"/>
              </a:buClr>
              <a:buSzPts val="1400"/>
              <a:buChar char="■"/>
              <a:defRPr>
                <a:solidFill>
                  <a:schemeClr val="accent1"/>
                </a:solidFill>
              </a:defRPr>
            </a:lvl3pPr>
            <a:lvl4pPr indent="-317500" lvl="3" marL="1828800">
              <a:spcBef>
                <a:spcPts val="1600"/>
              </a:spcBef>
              <a:spcAft>
                <a:spcPts val="0"/>
              </a:spcAft>
              <a:buClr>
                <a:schemeClr val="accent1"/>
              </a:buClr>
              <a:buSzPts val="1400"/>
              <a:buChar char="●"/>
              <a:defRPr>
                <a:solidFill>
                  <a:schemeClr val="accent1"/>
                </a:solidFill>
              </a:defRPr>
            </a:lvl4pPr>
            <a:lvl5pPr indent="-317500" lvl="4" marL="2286000">
              <a:spcBef>
                <a:spcPts val="1600"/>
              </a:spcBef>
              <a:spcAft>
                <a:spcPts val="0"/>
              </a:spcAft>
              <a:buClr>
                <a:schemeClr val="accent1"/>
              </a:buClr>
              <a:buSzPts val="1400"/>
              <a:buChar char="○"/>
              <a:defRPr>
                <a:solidFill>
                  <a:schemeClr val="accent1"/>
                </a:solidFill>
              </a:defRPr>
            </a:lvl5pPr>
            <a:lvl6pPr indent="-317500" lvl="5" marL="2743200">
              <a:spcBef>
                <a:spcPts val="1600"/>
              </a:spcBef>
              <a:spcAft>
                <a:spcPts val="0"/>
              </a:spcAft>
              <a:buClr>
                <a:schemeClr val="accent1"/>
              </a:buClr>
              <a:buSzPts val="1400"/>
              <a:buChar char="■"/>
              <a:defRPr>
                <a:solidFill>
                  <a:schemeClr val="accent1"/>
                </a:solidFill>
              </a:defRPr>
            </a:lvl6pPr>
            <a:lvl7pPr indent="-317500" lvl="6" marL="3200400">
              <a:spcBef>
                <a:spcPts val="1600"/>
              </a:spcBef>
              <a:spcAft>
                <a:spcPts val="0"/>
              </a:spcAft>
              <a:buClr>
                <a:schemeClr val="accent1"/>
              </a:buClr>
              <a:buSzPts val="1400"/>
              <a:buChar char="●"/>
              <a:defRPr>
                <a:solidFill>
                  <a:schemeClr val="accent1"/>
                </a:solidFill>
              </a:defRPr>
            </a:lvl7pPr>
            <a:lvl8pPr indent="-317500" lvl="7" marL="3657600">
              <a:spcBef>
                <a:spcPts val="1600"/>
              </a:spcBef>
              <a:spcAft>
                <a:spcPts val="0"/>
              </a:spcAft>
              <a:buClr>
                <a:schemeClr val="accent1"/>
              </a:buClr>
              <a:buSzPts val="1400"/>
              <a:buChar char="○"/>
              <a:defRPr>
                <a:solidFill>
                  <a:schemeClr val="accent1"/>
                </a:solidFill>
              </a:defRPr>
            </a:lvl8pPr>
            <a:lvl9pPr indent="-317500" lvl="8" marL="4114800">
              <a:spcBef>
                <a:spcPts val="1600"/>
              </a:spcBef>
              <a:spcAft>
                <a:spcPts val="1600"/>
              </a:spcAft>
              <a:buClr>
                <a:schemeClr val="accent1"/>
              </a:buClr>
              <a:buSzPts val="1400"/>
              <a:buChar char="■"/>
              <a:defRPr>
                <a:solidFill>
                  <a:schemeClr val="accent1"/>
                </a:solidFill>
              </a:defRPr>
            </a:lvl9pPr>
          </a:lstStyle>
          <a:p/>
        </p:txBody>
      </p:sp>
      <p:sp>
        <p:nvSpPr>
          <p:cNvPr id="90" name="Google Shape;90;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1" name="Shape 91"/>
        <p:cNvGrpSpPr/>
        <p:nvPr/>
      </p:nvGrpSpPr>
      <p:grpSpPr>
        <a:xfrm>
          <a:off x="0" y="0"/>
          <a:ext cx="0" cy="0"/>
          <a:chOff x="0" y="0"/>
          <a:chExt cx="0" cy="0"/>
        </a:xfrm>
      </p:grpSpPr>
      <p:sp>
        <p:nvSpPr>
          <p:cNvPr id="92" name="Google Shape;92;p2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93" name="Google Shape;93;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4" name="Shape 94"/>
        <p:cNvGrpSpPr/>
        <p:nvPr/>
      </p:nvGrpSpPr>
      <p:grpSpPr>
        <a:xfrm>
          <a:off x="0" y="0"/>
          <a:ext cx="0" cy="0"/>
          <a:chOff x="0" y="0"/>
          <a:chExt cx="0" cy="0"/>
        </a:xfrm>
      </p:grpSpPr>
      <p:sp>
        <p:nvSpPr>
          <p:cNvPr id="95" name="Google Shape;95;p23"/>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96" name="Google Shape;96;p23"/>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97" name="Google Shape;97;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52" name="Google Shape;52;p13"/>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5"/>
          <p:cNvSpPr txBox="1"/>
          <p:nvPr>
            <p:ph type="ctrTitle"/>
          </p:nvPr>
        </p:nvSpPr>
        <p:spPr>
          <a:xfrm>
            <a:off x="512700" y="1810350"/>
            <a:ext cx="8118600" cy="152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100"/>
              <a:t>Mitos de la escritura académica</a:t>
            </a:r>
            <a:endParaRPr sz="3100"/>
          </a:p>
        </p:txBody>
      </p:sp>
      <p:sp>
        <p:nvSpPr>
          <p:cNvPr id="105" name="Google Shape;105;p25"/>
          <p:cNvSpPr txBox="1"/>
          <p:nvPr>
            <p:ph idx="1" type="subTitle"/>
          </p:nvPr>
        </p:nvSpPr>
        <p:spPr>
          <a:xfrm>
            <a:off x="512700" y="3696964"/>
            <a:ext cx="8118600" cy="78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t>Sword (2017); Sarnecka (2019); Thomson (2016); Belcher (2011); Goodson (2013)</a:t>
            </a:r>
            <a:endParaRPr sz="2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6"/>
          <p:cNvSpPr/>
          <p:nvPr/>
        </p:nvSpPr>
        <p:spPr>
          <a:xfrm>
            <a:off x="378650" y="3395600"/>
            <a:ext cx="1252500" cy="6342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6"/>
          <p:cNvSpPr txBox="1"/>
          <p:nvPr>
            <p:ph type="title"/>
          </p:nvPr>
        </p:nvSpPr>
        <p:spPr>
          <a:xfrm>
            <a:off x="512700" y="1564725"/>
            <a:ext cx="8118600" cy="246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300"/>
              <a:t>MITO 1: </a:t>
            </a:r>
            <a:endParaRPr sz="3300"/>
          </a:p>
          <a:p>
            <a:pPr indent="0" lvl="0" marL="457200" rtl="0" algn="l">
              <a:spcBef>
                <a:spcPts val="0"/>
              </a:spcBef>
              <a:spcAft>
                <a:spcPts val="0"/>
              </a:spcAft>
              <a:buNone/>
            </a:pPr>
            <a:r>
              <a:rPr lang="en" sz="3300"/>
              <a:t>Se escribe bien al primer intento.</a:t>
            </a:r>
            <a:endParaRPr sz="33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7"/>
          <p:cNvSpPr txBox="1"/>
          <p:nvPr>
            <p:ph type="title"/>
          </p:nvPr>
        </p:nvSpPr>
        <p:spPr>
          <a:xfrm>
            <a:off x="725850" y="608200"/>
            <a:ext cx="76923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¿Cómo te relacionas con el primer borrador? </a:t>
            </a:r>
            <a:endParaRPr b="1"/>
          </a:p>
        </p:txBody>
      </p:sp>
      <p:sp>
        <p:nvSpPr>
          <p:cNvPr id="117" name="Google Shape;117;p27"/>
          <p:cNvSpPr txBox="1"/>
          <p:nvPr>
            <p:ph idx="1" type="body"/>
          </p:nvPr>
        </p:nvSpPr>
        <p:spPr>
          <a:xfrm>
            <a:off x="1259950" y="1369375"/>
            <a:ext cx="6878700" cy="346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Nos bloqueamos cuando…</a:t>
            </a:r>
            <a:endParaRPr sz="1800"/>
          </a:p>
          <a:p>
            <a:pPr indent="0" lvl="0" marL="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Creemos que lo que escribimos tiene que salir bien a la primera cuando lo más común es que nuestro primer borrador solo será eso: un primer borrador que luego será editado muchas veces.</a:t>
            </a:r>
            <a:endParaRPr sz="1800"/>
          </a:p>
          <a:p>
            <a:pPr indent="0" lvl="0" marL="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No nos damos espacio para escribir “mal” (pre-escritura) y no reconocer que la escritura es también para mí: es una herramienta para pensar y </a:t>
            </a:r>
            <a:r>
              <a:rPr b="1" lang="en" sz="1800" u="sng"/>
              <a:t>aclarar el argumento</a:t>
            </a:r>
            <a:r>
              <a:rPr lang="en" sz="1800"/>
              <a:t> antes de que salga al mundo.</a:t>
            </a:r>
            <a:endParaRPr sz="1800"/>
          </a:p>
          <a:p>
            <a:pPr indent="0" lvl="0" marL="0" rtl="0" algn="l">
              <a:spcBef>
                <a:spcPts val="0"/>
              </a:spcBef>
              <a:spcAft>
                <a:spcPts val="0"/>
              </a:spcAft>
              <a:buClr>
                <a:schemeClr val="dk1"/>
              </a:buClr>
              <a:buSzPts val="1100"/>
              <a:buFont typeface="Arial"/>
              <a:buNone/>
            </a:pPr>
            <a:r>
              <a:t/>
            </a:r>
            <a:endParaRPr sz="1800"/>
          </a:p>
          <a:p>
            <a:pPr indent="0" lvl="0" marL="457200" rtl="0" algn="l">
              <a:spcBef>
                <a:spcPts val="0"/>
              </a:spcBef>
              <a:spcAft>
                <a:spcPts val="0"/>
              </a:spcAft>
              <a:buNone/>
            </a:pPr>
            <a:r>
              <a:t/>
            </a:r>
            <a:endParaRPr sz="1900"/>
          </a:p>
          <a:p>
            <a:pPr indent="0" lvl="0" marL="0" rtl="0" algn="l">
              <a:spcBef>
                <a:spcPts val="1600"/>
              </a:spcBef>
              <a:spcAft>
                <a:spcPts val="1600"/>
              </a:spcAft>
              <a:buNone/>
            </a:pPr>
            <a:r>
              <a:t/>
            </a:r>
            <a:endParaRPr sz="19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21" name="Shape 121"/>
        <p:cNvGrpSpPr/>
        <p:nvPr/>
      </p:nvGrpSpPr>
      <p:grpSpPr>
        <a:xfrm>
          <a:off x="0" y="0"/>
          <a:ext cx="0" cy="0"/>
          <a:chOff x="0" y="0"/>
          <a:chExt cx="0" cy="0"/>
        </a:xfrm>
      </p:grpSpPr>
      <p:sp>
        <p:nvSpPr>
          <p:cNvPr id="122" name="Google Shape;122;p28"/>
          <p:cNvSpPr txBox="1"/>
          <p:nvPr/>
        </p:nvSpPr>
        <p:spPr>
          <a:xfrm>
            <a:off x="781075" y="143037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23" name="Google Shape;123;p28"/>
          <p:cNvSpPr txBox="1"/>
          <p:nvPr/>
        </p:nvSpPr>
        <p:spPr>
          <a:xfrm>
            <a:off x="448650" y="207125"/>
            <a:ext cx="8326500" cy="482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a:latin typeface="Old Standard TT"/>
                <a:ea typeface="Old Standard TT"/>
                <a:cs typeface="Old Standard TT"/>
                <a:sym typeface="Old Standard TT"/>
              </a:rPr>
              <a:t>“Así como ningún montañista se arriesgaría a escalar el Everest sin un plan de ruta, un escritor inexperto tiende a descuidar la importancia de planificar. Sin un plan, intenta hacerlo todo al mismo tiempo: abre un documento en blanco, lo observa fijamente y trata de pensar en la primera palabra de la primera frase del primer párrafo. Pero, como aún no sabe qué historia debe contar el primer párrafo (ni el artículo completo), intenta resolver esto al mismo tiempo que elige la primera palabra. Quizás ni siquiera se da cuenta de que esto sucede; simplemente siente que escribir la primera oración es dolorosamente difícil, como un acantilado vertical cubierto de hielo, demasiado empinado para escalar. Y eso es solo la primera oración.</a:t>
            </a:r>
            <a:endParaRPr>
              <a:latin typeface="Old Standard TT"/>
              <a:ea typeface="Old Standard TT"/>
              <a:cs typeface="Old Standard TT"/>
              <a:sym typeface="Old Standard TT"/>
            </a:endParaRPr>
          </a:p>
          <a:p>
            <a:pPr indent="0" lvl="0" marL="0" rtl="0" algn="l">
              <a:lnSpc>
                <a:spcPct val="115000"/>
              </a:lnSpc>
              <a:spcBef>
                <a:spcPts val="1200"/>
              </a:spcBef>
              <a:spcAft>
                <a:spcPts val="0"/>
              </a:spcAft>
              <a:buNone/>
            </a:pPr>
            <a:r>
              <a:rPr lang="en">
                <a:latin typeface="Old Standard TT"/>
                <a:ea typeface="Old Standard TT"/>
                <a:cs typeface="Old Standard TT"/>
                <a:sym typeface="Old Standard TT"/>
              </a:rPr>
              <a:t>Al mismo tiempo, nuestro escritor está aún—quizás sin saberlo—en el proceso de comprender sus resultados y lo que significan. Incluso puede estar inseguro de cuál debería ser el punto central de su artículo. Todo está sin decidir, todo está en el aire. El acantilado es resbaladizo y cuesta aferrarse a algo.</a:t>
            </a:r>
            <a:endParaRPr>
              <a:latin typeface="Old Standard TT"/>
              <a:ea typeface="Old Standard TT"/>
              <a:cs typeface="Old Standard TT"/>
              <a:sym typeface="Old Standard TT"/>
            </a:endParaRPr>
          </a:p>
          <a:p>
            <a:pPr indent="0" lvl="0" marL="0" rtl="0" algn="l">
              <a:lnSpc>
                <a:spcPct val="115000"/>
              </a:lnSpc>
              <a:spcBef>
                <a:spcPts val="1200"/>
              </a:spcBef>
              <a:spcAft>
                <a:spcPts val="0"/>
              </a:spcAft>
              <a:buNone/>
            </a:pPr>
            <a:r>
              <a:rPr lang="en">
                <a:latin typeface="Old Standard TT"/>
                <a:ea typeface="Old Standard TT"/>
                <a:cs typeface="Old Standard TT"/>
                <a:sym typeface="Old Standard TT"/>
              </a:rPr>
              <a:t>En estas circunstancias, no es sorprendente que un proyecto exitoso de redacción de un artículo nunca debería comenzar en el nivel de palabras y oraciones, sino en el nivel de ideas y estructura. Es mucho más eficiente pensar primero en el propósito del artículo y en cómo comunicar mejor los resultados en términos de estructura y narrativa. Los detalles, como las oraciones, deben dejarse para las etapas finales de la escritura”.</a:t>
            </a:r>
            <a:endParaRPr>
              <a:latin typeface="Old Standard TT"/>
              <a:ea typeface="Old Standard TT"/>
              <a:cs typeface="Old Standard TT"/>
              <a:sym typeface="Old Standard TT"/>
            </a:endParaRPr>
          </a:p>
          <a:p>
            <a:pPr indent="0" lvl="0" marL="0" rtl="0" algn="r">
              <a:lnSpc>
                <a:spcPct val="115000"/>
              </a:lnSpc>
              <a:spcBef>
                <a:spcPts val="1200"/>
              </a:spcBef>
              <a:spcAft>
                <a:spcPts val="1200"/>
              </a:spcAft>
              <a:buNone/>
            </a:pPr>
            <a:r>
              <a:rPr lang="en">
                <a:latin typeface="Old Standard TT"/>
                <a:ea typeface="Old Standard TT"/>
                <a:cs typeface="Old Standard TT"/>
                <a:sym typeface="Old Standard TT"/>
              </a:rPr>
              <a:t>Saramaki, J. (2019). </a:t>
            </a:r>
            <a:r>
              <a:rPr i="1" lang="en">
                <a:latin typeface="Old Standard TT"/>
                <a:ea typeface="Old Standard TT"/>
                <a:cs typeface="Old Standard TT"/>
                <a:sym typeface="Old Standard TT"/>
              </a:rPr>
              <a:t>How to write a </a:t>
            </a:r>
            <a:r>
              <a:rPr i="1" lang="en">
                <a:latin typeface="Old Standard TT"/>
                <a:ea typeface="Old Standard TT"/>
                <a:cs typeface="Old Standard TT"/>
                <a:sym typeface="Old Standard TT"/>
              </a:rPr>
              <a:t>scientific paper. An academic self-help guide for PhD students.</a:t>
            </a:r>
            <a:endParaRPr i="1">
              <a:latin typeface="Old Standard TT"/>
              <a:ea typeface="Old Standard TT"/>
              <a:cs typeface="Old Standard TT"/>
              <a:sym typeface="Old Standard T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cxnSp>
        <p:nvCxnSpPr>
          <p:cNvPr id="128" name="Google Shape;128;p29"/>
          <p:cNvCxnSpPr>
            <a:stCxn id="129" idx="6"/>
            <a:endCxn id="130" idx="2"/>
          </p:cNvCxnSpPr>
          <p:nvPr/>
        </p:nvCxnSpPr>
        <p:spPr>
          <a:xfrm>
            <a:off x="2988163" y="2398150"/>
            <a:ext cx="702300" cy="936000"/>
          </a:xfrm>
          <a:prstGeom prst="bentConnector3">
            <a:avLst>
              <a:gd fmla="val 49995" name="adj1"/>
            </a:avLst>
          </a:prstGeom>
          <a:noFill/>
          <a:ln cap="flat" cmpd="sng" w="9525">
            <a:solidFill>
              <a:srgbClr val="C2C2C2"/>
            </a:solidFill>
            <a:prstDash val="solid"/>
            <a:round/>
            <a:headEnd len="sm" w="sm" type="none"/>
            <a:tailEnd len="sm" w="sm" type="none"/>
          </a:ln>
        </p:spPr>
      </p:cxnSp>
      <p:cxnSp>
        <p:nvCxnSpPr>
          <p:cNvPr id="131" name="Google Shape;131;p29"/>
          <p:cNvCxnSpPr>
            <a:stCxn id="129" idx="6"/>
            <a:endCxn id="132" idx="2"/>
          </p:cNvCxnSpPr>
          <p:nvPr/>
        </p:nvCxnSpPr>
        <p:spPr>
          <a:xfrm flipH="1" rot="10800000">
            <a:off x="2988163" y="1462150"/>
            <a:ext cx="702300" cy="936000"/>
          </a:xfrm>
          <a:prstGeom prst="bentConnector3">
            <a:avLst>
              <a:gd fmla="val 49995" name="adj1"/>
            </a:avLst>
          </a:prstGeom>
          <a:noFill/>
          <a:ln cap="flat" cmpd="sng" w="9525">
            <a:solidFill>
              <a:srgbClr val="C2C2C2"/>
            </a:solidFill>
            <a:prstDash val="solid"/>
            <a:round/>
            <a:headEnd len="sm" w="sm" type="none"/>
            <a:tailEnd len="sm" w="sm" type="none"/>
          </a:ln>
        </p:spPr>
      </p:cxnSp>
      <p:cxnSp>
        <p:nvCxnSpPr>
          <p:cNvPr id="133" name="Google Shape;133;p29"/>
          <p:cNvCxnSpPr>
            <a:stCxn id="134" idx="3"/>
            <a:endCxn id="135" idx="2"/>
          </p:cNvCxnSpPr>
          <p:nvPr/>
        </p:nvCxnSpPr>
        <p:spPr>
          <a:xfrm flipH="1" rot="10800000">
            <a:off x="5046688" y="1004950"/>
            <a:ext cx="586500" cy="457200"/>
          </a:xfrm>
          <a:prstGeom prst="bentConnector3">
            <a:avLst>
              <a:gd fmla="val 50000" name="adj1"/>
            </a:avLst>
          </a:prstGeom>
          <a:noFill/>
          <a:ln cap="flat" cmpd="sng" w="9525">
            <a:solidFill>
              <a:srgbClr val="C2C2C2"/>
            </a:solidFill>
            <a:prstDash val="solid"/>
            <a:round/>
            <a:headEnd len="sm" w="sm" type="none"/>
            <a:tailEnd len="sm" w="sm" type="none"/>
          </a:ln>
        </p:spPr>
      </p:cxnSp>
      <p:cxnSp>
        <p:nvCxnSpPr>
          <p:cNvPr id="136" name="Google Shape;136;p29"/>
          <p:cNvCxnSpPr>
            <a:stCxn id="134" idx="3"/>
            <a:endCxn id="137" idx="2"/>
          </p:cNvCxnSpPr>
          <p:nvPr/>
        </p:nvCxnSpPr>
        <p:spPr>
          <a:xfrm>
            <a:off x="5046688" y="1462150"/>
            <a:ext cx="586200" cy="442500"/>
          </a:xfrm>
          <a:prstGeom prst="bentConnector3">
            <a:avLst>
              <a:gd fmla="val 50000" name="adj1"/>
            </a:avLst>
          </a:prstGeom>
          <a:noFill/>
          <a:ln cap="flat" cmpd="sng" w="9525">
            <a:solidFill>
              <a:srgbClr val="C2C2C2"/>
            </a:solidFill>
            <a:prstDash val="solid"/>
            <a:round/>
            <a:headEnd len="sm" w="sm" type="none"/>
            <a:tailEnd len="sm" w="sm" type="none"/>
          </a:ln>
        </p:spPr>
      </p:cxnSp>
      <p:cxnSp>
        <p:nvCxnSpPr>
          <p:cNvPr id="138" name="Google Shape;138;p29"/>
          <p:cNvCxnSpPr>
            <a:stCxn id="139" idx="3"/>
            <a:endCxn id="140" idx="2"/>
          </p:cNvCxnSpPr>
          <p:nvPr/>
        </p:nvCxnSpPr>
        <p:spPr>
          <a:xfrm flipH="1" rot="10800000">
            <a:off x="5046688" y="2876950"/>
            <a:ext cx="586200" cy="457200"/>
          </a:xfrm>
          <a:prstGeom prst="bentConnector3">
            <a:avLst>
              <a:gd fmla="val 50000" name="adj1"/>
            </a:avLst>
          </a:prstGeom>
          <a:noFill/>
          <a:ln cap="flat" cmpd="sng" w="9525">
            <a:solidFill>
              <a:srgbClr val="C2C2C2"/>
            </a:solidFill>
            <a:prstDash val="solid"/>
            <a:round/>
            <a:headEnd len="sm" w="sm" type="none"/>
            <a:tailEnd len="sm" w="sm" type="none"/>
          </a:ln>
        </p:spPr>
      </p:cxnSp>
      <p:cxnSp>
        <p:nvCxnSpPr>
          <p:cNvPr id="141" name="Google Shape;141;p29"/>
          <p:cNvCxnSpPr/>
          <p:nvPr/>
        </p:nvCxnSpPr>
        <p:spPr>
          <a:xfrm>
            <a:off x="5046688" y="3334150"/>
            <a:ext cx="586200" cy="274200"/>
          </a:xfrm>
          <a:prstGeom prst="bentConnector3">
            <a:avLst>
              <a:gd fmla="val 50000" name="adj1"/>
            </a:avLst>
          </a:prstGeom>
          <a:noFill/>
          <a:ln cap="flat" cmpd="sng" w="9525">
            <a:solidFill>
              <a:srgbClr val="C2C2C2"/>
            </a:solidFill>
            <a:prstDash val="solid"/>
            <a:round/>
            <a:headEnd len="sm" w="sm" type="none"/>
            <a:tailEnd len="sm" w="sm" type="none"/>
          </a:ln>
        </p:spPr>
      </p:cxnSp>
      <p:sp>
        <p:nvSpPr>
          <p:cNvPr id="142" name="Google Shape;142;p29"/>
          <p:cNvSpPr/>
          <p:nvPr/>
        </p:nvSpPr>
        <p:spPr>
          <a:xfrm>
            <a:off x="5806887" y="802150"/>
            <a:ext cx="2811000" cy="3192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3D3D3D"/>
                </a:solidFill>
                <a:latin typeface="Old Standard TT"/>
                <a:ea typeface="Old Standard TT"/>
                <a:cs typeface="Old Standard TT"/>
                <a:sym typeface="Old Standard TT"/>
              </a:rPr>
              <a:t>Por el bien de la escritora</a:t>
            </a:r>
            <a:endParaRPr sz="1600">
              <a:solidFill>
                <a:srgbClr val="3D3D3D"/>
              </a:solidFill>
              <a:latin typeface="Old Standard TT"/>
              <a:ea typeface="Old Standard TT"/>
              <a:cs typeface="Old Standard TT"/>
              <a:sym typeface="Old Standard TT"/>
            </a:endParaRPr>
          </a:p>
        </p:txBody>
      </p:sp>
      <p:grpSp>
        <p:nvGrpSpPr>
          <p:cNvPr id="143" name="Google Shape;143;p29"/>
          <p:cNvGrpSpPr/>
          <p:nvPr/>
        </p:nvGrpSpPr>
        <p:grpSpPr>
          <a:xfrm>
            <a:off x="3690388" y="1302550"/>
            <a:ext cx="1356300" cy="319200"/>
            <a:chOff x="3650050" y="1476150"/>
            <a:chExt cx="1356300" cy="319200"/>
          </a:xfrm>
        </p:grpSpPr>
        <p:sp>
          <p:nvSpPr>
            <p:cNvPr id="134" name="Google Shape;134;p29"/>
            <p:cNvSpPr/>
            <p:nvPr/>
          </p:nvSpPr>
          <p:spPr>
            <a:xfrm>
              <a:off x="3824050" y="1476150"/>
              <a:ext cx="1182300" cy="3192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3D3D3D"/>
                  </a:solidFill>
                  <a:latin typeface="Old Standard TT"/>
                  <a:ea typeface="Old Standard TT"/>
                  <a:cs typeface="Old Standard TT"/>
                  <a:sym typeface="Old Standard TT"/>
                </a:rPr>
                <a:t>Temprana</a:t>
              </a:r>
              <a:endParaRPr sz="1600">
                <a:solidFill>
                  <a:srgbClr val="3D3D3D"/>
                </a:solidFill>
                <a:latin typeface="Old Standard TT"/>
                <a:ea typeface="Old Standard TT"/>
                <a:cs typeface="Old Standard TT"/>
                <a:sym typeface="Old Standard TT"/>
              </a:endParaRPr>
            </a:p>
          </p:txBody>
        </p:sp>
        <p:sp>
          <p:nvSpPr>
            <p:cNvPr id="132" name="Google Shape;132;p29"/>
            <p:cNvSpPr/>
            <p:nvPr/>
          </p:nvSpPr>
          <p:spPr>
            <a:xfrm>
              <a:off x="3650050" y="1548750"/>
              <a:ext cx="174000" cy="174000"/>
            </a:xfrm>
            <a:prstGeom prst="ellipse">
              <a:avLst/>
            </a:prstGeom>
            <a:solidFill>
              <a:srgbClr val="4141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 name="Google Shape;144;p29"/>
          <p:cNvGrpSpPr/>
          <p:nvPr/>
        </p:nvGrpSpPr>
        <p:grpSpPr>
          <a:xfrm>
            <a:off x="526113" y="1623550"/>
            <a:ext cx="2462050" cy="1404000"/>
            <a:chOff x="496975" y="1797150"/>
            <a:chExt cx="2462050" cy="1404000"/>
          </a:xfrm>
        </p:grpSpPr>
        <p:sp>
          <p:nvSpPr>
            <p:cNvPr id="145" name="Google Shape;145;p29"/>
            <p:cNvSpPr/>
            <p:nvPr/>
          </p:nvSpPr>
          <p:spPr>
            <a:xfrm>
              <a:off x="496975" y="1797150"/>
              <a:ext cx="2148900" cy="14040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2000">
                  <a:solidFill>
                    <a:srgbClr val="3D3D3D"/>
                  </a:solidFill>
                  <a:latin typeface="Old Standard TT"/>
                  <a:ea typeface="Old Standard TT"/>
                  <a:cs typeface="Old Standard TT"/>
                  <a:sym typeface="Old Standard TT"/>
                </a:rPr>
                <a:t>Etapas de escritura y revisión</a:t>
              </a:r>
              <a:endParaRPr b="1" sz="2000">
                <a:solidFill>
                  <a:srgbClr val="3D3D3D"/>
                </a:solidFill>
                <a:latin typeface="Old Standard TT"/>
                <a:ea typeface="Old Standard TT"/>
                <a:cs typeface="Old Standard TT"/>
                <a:sym typeface="Old Standard TT"/>
              </a:endParaRPr>
            </a:p>
          </p:txBody>
        </p:sp>
        <p:sp>
          <p:nvSpPr>
            <p:cNvPr id="129" name="Google Shape;129;p29"/>
            <p:cNvSpPr/>
            <p:nvPr/>
          </p:nvSpPr>
          <p:spPr>
            <a:xfrm>
              <a:off x="2785025" y="2484750"/>
              <a:ext cx="174000" cy="174000"/>
            </a:xfrm>
            <a:prstGeom prst="ellipse">
              <a:avLst/>
            </a:prstGeom>
            <a:solidFill>
              <a:srgbClr val="2F2F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 name="Google Shape;146;p29"/>
          <p:cNvGrpSpPr/>
          <p:nvPr/>
        </p:nvGrpSpPr>
        <p:grpSpPr>
          <a:xfrm>
            <a:off x="3690388" y="3174550"/>
            <a:ext cx="1356300" cy="319200"/>
            <a:chOff x="3650050" y="3348150"/>
            <a:chExt cx="1356300" cy="319200"/>
          </a:xfrm>
        </p:grpSpPr>
        <p:sp>
          <p:nvSpPr>
            <p:cNvPr id="139" name="Google Shape;139;p29"/>
            <p:cNvSpPr/>
            <p:nvPr/>
          </p:nvSpPr>
          <p:spPr>
            <a:xfrm>
              <a:off x="3824050" y="3348150"/>
              <a:ext cx="1182300" cy="3192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3D3D3D"/>
                  </a:solidFill>
                  <a:latin typeface="Old Standard TT"/>
                  <a:ea typeface="Old Standard TT"/>
                  <a:cs typeface="Old Standard TT"/>
                  <a:sym typeface="Old Standard TT"/>
                </a:rPr>
                <a:t>Posterior</a:t>
              </a:r>
              <a:endParaRPr sz="1600">
                <a:solidFill>
                  <a:srgbClr val="3D3D3D"/>
                </a:solidFill>
                <a:latin typeface="Old Standard TT"/>
                <a:ea typeface="Old Standard TT"/>
                <a:cs typeface="Old Standard TT"/>
                <a:sym typeface="Old Standard TT"/>
              </a:endParaRPr>
            </a:p>
          </p:txBody>
        </p:sp>
        <p:sp>
          <p:nvSpPr>
            <p:cNvPr id="130" name="Google Shape;130;p29"/>
            <p:cNvSpPr/>
            <p:nvPr/>
          </p:nvSpPr>
          <p:spPr>
            <a:xfrm>
              <a:off x="3650050" y="3420750"/>
              <a:ext cx="174000" cy="174000"/>
            </a:xfrm>
            <a:prstGeom prst="ellipse">
              <a:avLst/>
            </a:prstGeom>
            <a:solidFill>
              <a:srgbClr val="4141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7" name="Google Shape;147;p29"/>
          <p:cNvSpPr/>
          <p:nvPr/>
        </p:nvSpPr>
        <p:spPr>
          <a:xfrm>
            <a:off x="5806900" y="1621750"/>
            <a:ext cx="3099000" cy="3192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solidFill>
                <a:srgbClr val="3D3D3D"/>
              </a:solidFill>
              <a:latin typeface="Old Standard TT"/>
              <a:ea typeface="Old Standard TT"/>
              <a:cs typeface="Old Standard TT"/>
              <a:sym typeface="Old Standard TT"/>
            </a:endParaRPr>
          </a:p>
          <a:p>
            <a:pPr indent="0" lvl="0" marL="0" rtl="0" algn="l">
              <a:spcBef>
                <a:spcPts val="0"/>
              </a:spcBef>
              <a:spcAft>
                <a:spcPts val="0"/>
              </a:spcAft>
              <a:buNone/>
            </a:pPr>
            <a:r>
              <a:rPr lang="en" sz="1600">
                <a:solidFill>
                  <a:srgbClr val="3D3D3D"/>
                </a:solidFill>
                <a:latin typeface="Old Standard TT"/>
                <a:ea typeface="Old Standard TT"/>
                <a:cs typeface="Old Standard TT"/>
                <a:sym typeface="Old Standard TT"/>
              </a:rPr>
              <a:t>Averiguar cuál es mi argumento</a:t>
            </a:r>
            <a:endParaRPr sz="1600">
              <a:solidFill>
                <a:srgbClr val="3D3D3D"/>
              </a:solidFill>
              <a:latin typeface="Old Standard TT"/>
              <a:ea typeface="Old Standard TT"/>
              <a:cs typeface="Old Standard TT"/>
              <a:sym typeface="Old Standard TT"/>
            </a:endParaRPr>
          </a:p>
          <a:p>
            <a:pPr indent="0" lvl="0" marL="0" rtl="0" algn="l">
              <a:spcBef>
                <a:spcPts val="0"/>
              </a:spcBef>
              <a:spcAft>
                <a:spcPts val="0"/>
              </a:spcAft>
              <a:buNone/>
            </a:pPr>
            <a:r>
              <a:rPr lang="en" sz="1600">
                <a:solidFill>
                  <a:srgbClr val="3D3D3D"/>
                </a:solidFill>
                <a:latin typeface="Old Standard TT"/>
                <a:ea typeface="Old Standard TT"/>
                <a:cs typeface="Old Standard TT"/>
                <a:sym typeface="Old Standard TT"/>
              </a:rPr>
              <a:t>Escribir es pensar</a:t>
            </a:r>
            <a:endParaRPr sz="1600">
              <a:solidFill>
                <a:srgbClr val="3D3D3D"/>
              </a:solidFill>
              <a:latin typeface="Old Standard TT"/>
              <a:ea typeface="Old Standard TT"/>
              <a:cs typeface="Old Standard TT"/>
              <a:sym typeface="Old Standard TT"/>
            </a:endParaRPr>
          </a:p>
        </p:txBody>
      </p:sp>
      <p:sp>
        <p:nvSpPr>
          <p:cNvPr id="137" name="Google Shape;137;p29"/>
          <p:cNvSpPr/>
          <p:nvPr/>
        </p:nvSpPr>
        <p:spPr>
          <a:xfrm>
            <a:off x="5632888" y="1817650"/>
            <a:ext cx="174000" cy="174000"/>
          </a:xfrm>
          <a:prstGeom prst="ellipse">
            <a:avLst/>
          </a:prstGeom>
          <a:solidFill>
            <a:srgbClr val="505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8" name="Google Shape;148;p29"/>
          <p:cNvGrpSpPr/>
          <p:nvPr/>
        </p:nvGrpSpPr>
        <p:grpSpPr>
          <a:xfrm>
            <a:off x="5632888" y="2717350"/>
            <a:ext cx="2355300" cy="319200"/>
            <a:chOff x="5592550" y="2890950"/>
            <a:chExt cx="2355300" cy="319200"/>
          </a:xfrm>
        </p:grpSpPr>
        <p:sp>
          <p:nvSpPr>
            <p:cNvPr id="149" name="Google Shape;149;p29"/>
            <p:cNvSpPr/>
            <p:nvPr/>
          </p:nvSpPr>
          <p:spPr>
            <a:xfrm>
              <a:off x="5766550" y="2890950"/>
              <a:ext cx="2181300" cy="3192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3D3D3D"/>
                  </a:solidFill>
                  <a:latin typeface="Old Standard TT"/>
                  <a:ea typeface="Old Standard TT"/>
                  <a:cs typeface="Old Standard TT"/>
                  <a:sym typeface="Old Standard TT"/>
                </a:rPr>
                <a:t>Por el bien del lector</a:t>
              </a:r>
              <a:endParaRPr sz="1600">
                <a:solidFill>
                  <a:srgbClr val="3D3D3D"/>
                </a:solidFill>
                <a:latin typeface="Old Standard TT"/>
                <a:ea typeface="Old Standard TT"/>
                <a:cs typeface="Old Standard TT"/>
                <a:sym typeface="Old Standard TT"/>
              </a:endParaRPr>
            </a:p>
          </p:txBody>
        </p:sp>
        <p:sp>
          <p:nvSpPr>
            <p:cNvPr id="140" name="Google Shape;140;p29"/>
            <p:cNvSpPr/>
            <p:nvPr/>
          </p:nvSpPr>
          <p:spPr>
            <a:xfrm>
              <a:off x="5592550" y="2963550"/>
              <a:ext cx="174000" cy="174000"/>
            </a:xfrm>
            <a:prstGeom prst="ellipse">
              <a:avLst/>
            </a:prstGeom>
            <a:solidFill>
              <a:srgbClr val="505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0" name="Google Shape;150;p29"/>
          <p:cNvSpPr/>
          <p:nvPr/>
        </p:nvSpPr>
        <p:spPr>
          <a:xfrm>
            <a:off x="5806863" y="3334150"/>
            <a:ext cx="2242800" cy="3192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solidFill>
                <a:srgbClr val="3D3D3D"/>
              </a:solidFill>
              <a:latin typeface="Old Standard TT"/>
              <a:ea typeface="Old Standard TT"/>
              <a:cs typeface="Old Standard TT"/>
              <a:sym typeface="Old Standard TT"/>
            </a:endParaRPr>
          </a:p>
          <a:p>
            <a:pPr indent="0" lvl="0" marL="0" rtl="0" algn="l">
              <a:spcBef>
                <a:spcPts val="0"/>
              </a:spcBef>
              <a:spcAft>
                <a:spcPts val="0"/>
              </a:spcAft>
              <a:buNone/>
            </a:pPr>
            <a:r>
              <a:rPr lang="en" sz="1600">
                <a:solidFill>
                  <a:srgbClr val="3D3D3D"/>
                </a:solidFill>
                <a:latin typeface="Old Standard TT"/>
                <a:ea typeface="Old Standard TT"/>
                <a:cs typeface="Old Standard TT"/>
                <a:sym typeface="Old Standard TT"/>
              </a:rPr>
              <a:t>Traducir </a:t>
            </a:r>
            <a:endParaRPr sz="1600">
              <a:solidFill>
                <a:srgbClr val="3D3D3D"/>
              </a:solidFill>
              <a:latin typeface="Old Standard TT"/>
              <a:ea typeface="Old Standard TT"/>
              <a:cs typeface="Old Standard TT"/>
              <a:sym typeface="Old Standard TT"/>
            </a:endParaRPr>
          </a:p>
          <a:p>
            <a:pPr indent="0" lvl="0" marL="0" rtl="0" algn="l">
              <a:spcBef>
                <a:spcPts val="0"/>
              </a:spcBef>
              <a:spcAft>
                <a:spcPts val="0"/>
              </a:spcAft>
              <a:buNone/>
            </a:pPr>
            <a:r>
              <a:rPr lang="en" sz="1600">
                <a:solidFill>
                  <a:srgbClr val="3D3D3D"/>
                </a:solidFill>
                <a:latin typeface="Old Standard TT"/>
                <a:ea typeface="Old Standard TT"/>
                <a:cs typeface="Old Standard TT"/>
                <a:sym typeface="Old Standard TT"/>
              </a:rPr>
              <a:t>Escribir es comunicar</a:t>
            </a:r>
            <a:endParaRPr sz="1600">
              <a:solidFill>
                <a:srgbClr val="3D3D3D"/>
              </a:solidFill>
              <a:latin typeface="Old Standard TT"/>
              <a:ea typeface="Old Standard TT"/>
              <a:cs typeface="Old Standard TT"/>
              <a:sym typeface="Old Standard TT"/>
            </a:endParaRPr>
          </a:p>
        </p:txBody>
      </p:sp>
      <p:sp>
        <p:nvSpPr>
          <p:cNvPr id="151" name="Google Shape;151;p29"/>
          <p:cNvSpPr/>
          <p:nvPr/>
        </p:nvSpPr>
        <p:spPr>
          <a:xfrm>
            <a:off x="5633188" y="3566350"/>
            <a:ext cx="174000" cy="174000"/>
          </a:xfrm>
          <a:prstGeom prst="ellipse">
            <a:avLst/>
          </a:prstGeom>
          <a:solidFill>
            <a:srgbClr val="505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9"/>
          <p:cNvSpPr/>
          <p:nvPr/>
        </p:nvSpPr>
        <p:spPr>
          <a:xfrm>
            <a:off x="5632888" y="917950"/>
            <a:ext cx="174000" cy="174000"/>
          </a:xfrm>
          <a:prstGeom prst="ellipse">
            <a:avLst/>
          </a:prstGeom>
          <a:solidFill>
            <a:srgbClr val="505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9"/>
          <p:cNvSpPr txBox="1"/>
          <p:nvPr/>
        </p:nvSpPr>
        <p:spPr>
          <a:xfrm>
            <a:off x="371050" y="4634250"/>
            <a:ext cx="4635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Old Standard TT"/>
                <a:ea typeface="Old Standard TT"/>
                <a:cs typeface="Old Standard TT"/>
                <a:sym typeface="Old Standard TT"/>
              </a:rPr>
              <a:t>Entrevista a Barbara Sarnecka (Nov 22). Scholarly Communication podcast.</a:t>
            </a:r>
            <a:endParaRPr sz="1000">
              <a:latin typeface="Old Standard TT"/>
              <a:ea typeface="Old Standard TT"/>
              <a:cs typeface="Old Standard TT"/>
              <a:sym typeface="Old Standard T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0"/>
          <p:cNvSpPr txBox="1"/>
          <p:nvPr>
            <p:ph type="title"/>
          </p:nvPr>
        </p:nvSpPr>
        <p:spPr>
          <a:xfrm>
            <a:off x="725850" y="608200"/>
            <a:ext cx="76923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¿Tenemos miedo al primer borrador y a “escribir mal”? </a:t>
            </a:r>
            <a:endParaRPr b="1"/>
          </a:p>
        </p:txBody>
      </p:sp>
      <p:sp>
        <p:nvSpPr>
          <p:cNvPr id="159" name="Google Shape;159;p30"/>
          <p:cNvSpPr txBox="1"/>
          <p:nvPr>
            <p:ph idx="1" type="body"/>
          </p:nvPr>
        </p:nvSpPr>
        <p:spPr>
          <a:xfrm>
            <a:off x="1293425" y="1873900"/>
            <a:ext cx="6878700" cy="263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900"/>
          </a:p>
          <a:p>
            <a:pPr indent="0" lvl="0" marL="0" rtl="0" algn="l">
              <a:spcBef>
                <a:spcPts val="1600"/>
              </a:spcBef>
              <a:spcAft>
                <a:spcPts val="0"/>
              </a:spcAft>
              <a:buNone/>
            </a:pPr>
            <a:r>
              <a:rPr b="1" lang="en" sz="1900"/>
              <a:t>ESCRIBIR MAL </a:t>
            </a:r>
            <a:r>
              <a:rPr lang="en" sz="1900"/>
              <a:t>= partes inconexas + con comentarios + con repeticiones + inconsistencias + poca elegancia + no se entiende bien + con costuras a la vista</a:t>
            </a:r>
            <a:endParaRPr sz="1900"/>
          </a:p>
          <a:p>
            <a:pPr indent="0" lvl="0" marL="457200" rtl="0" algn="l">
              <a:spcBef>
                <a:spcPts val="1600"/>
              </a:spcBef>
              <a:spcAft>
                <a:spcPts val="0"/>
              </a:spcAft>
              <a:buNone/>
            </a:pPr>
            <a:r>
              <a:t/>
            </a:r>
            <a:endParaRPr sz="1900"/>
          </a:p>
          <a:p>
            <a:pPr indent="0" lvl="0" marL="0" rtl="0" algn="l">
              <a:spcBef>
                <a:spcPts val="1600"/>
              </a:spcBef>
              <a:spcAft>
                <a:spcPts val="1600"/>
              </a:spcAft>
              <a:buNone/>
            </a:pPr>
            <a:r>
              <a:t/>
            </a:r>
            <a:endParaRPr sz="19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1"/>
          <p:cNvSpPr txBox="1"/>
          <p:nvPr>
            <p:ph type="title"/>
          </p:nvPr>
        </p:nvSpPr>
        <p:spPr>
          <a:xfrm>
            <a:off x="725850" y="608200"/>
            <a:ext cx="76923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¿Cómo te relacionas con el primer borrador? </a:t>
            </a:r>
            <a:endParaRPr b="1"/>
          </a:p>
        </p:txBody>
      </p:sp>
      <p:sp>
        <p:nvSpPr>
          <p:cNvPr id="165" name="Google Shape;165;p31"/>
          <p:cNvSpPr txBox="1"/>
          <p:nvPr>
            <p:ph idx="1" type="body"/>
          </p:nvPr>
        </p:nvSpPr>
        <p:spPr>
          <a:xfrm>
            <a:off x="1271125" y="1695375"/>
            <a:ext cx="6878700" cy="263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900"/>
              <a:t>“Nadie, absolutamente ningún escritor o escritora se sienta y escribe sólo perlitas” (Jufresa, podcast “Escribir es un lugar”)</a:t>
            </a:r>
            <a:endParaRPr sz="1900"/>
          </a:p>
          <a:p>
            <a:pPr indent="0" lvl="0" marL="457200" rtl="0" algn="l">
              <a:spcBef>
                <a:spcPts val="1600"/>
              </a:spcBef>
              <a:spcAft>
                <a:spcPts val="0"/>
              </a:spcAft>
              <a:buNone/>
            </a:pPr>
            <a:r>
              <a:t/>
            </a:r>
            <a:endParaRPr sz="1900"/>
          </a:p>
          <a:p>
            <a:pPr indent="0" lvl="0" marL="0" rtl="0" algn="l">
              <a:spcBef>
                <a:spcPts val="1600"/>
              </a:spcBef>
              <a:spcAft>
                <a:spcPts val="0"/>
              </a:spcAft>
              <a:buNone/>
            </a:pPr>
            <a:r>
              <a:rPr lang="en" sz="1900"/>
              <a:t>“Espera que tus </a:t>
            </a:r>
            <a:r>
              <a:rPr b="1" lang="en" sz="1900"/>
              <a:t>primeros </a:t>
            </a:r>
            <a:r>
              <a:rPr lang="en" sz="1900"/>
              <a:t>borradores siempre sean malos, incluso cuando te hayas convertido en un escritor ridículamente productivo” (Goodson, 2013, xvii).</a:t>
            </a:r>
            <a:endParaRPr sz="1900"/>
          </a:p>
          <a:p>
            <a:pPr indent="0" lvl="0" marL="457200" rtl="0" algn="l">
              <a:spcBef>
                <a:spcPts val="1600"/>
              </a:spcBef>
              <a:spcAft>
                <a:spcPts val="0"/>
              </a:spcAft>
              <a:buNone/>
            </a:pPr>
            <a:r>
              <a:t/>
            </a:r>
            <a:endParaRPr sz="1900"/>
          </a:p>
          <a:p>
            <a:pPr indent="0" lvl="0" marL="0" rtl="0" algn="l">
              <a:spcBef>
                <a:spcPts val="1600"/>
              </a:spcBef>
              <a:spcAft>
                <a:spcPts val="1600"/>
              </a:spcAft>
              <a:buNone/>
            </a:pPr>
            <a:r>
              <a:t/>
            </a:r>
            <a:endParaRPr sz="19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2"/>
          <p:cNvSpPr txBox="1"/>
          <p:nvPr>
            <p:ph idx="1" type="body"/>
          </p:nvPr>
        </p:nvSpPr>
        <p:spPr>
          <a:xfrm>
            <a:off x="790650" y="1645250"/>
            <a:ext cx="7562700" cy="3015600"/>
          </a:xfrm>
          <a:prstGeom prst="rect">
            <a:avLst/>
          </a:prstGeom>
        </p:spPr>
        <p:txBody>
          <a:bodyPr anchorCtr="0" anchor="t" bIns="91425" lIns="91425" spcFirstLastPara="1" rIns="91425" wrap="square" tIns="91425">
            <a:noAutofit/>
          </a:bodyPr>
          <a:lstStyle/>
          <a:p>
            <a:pPr indent="-349250" lvl="0" marL="457200" rtl="0" algn="l">
              <a:spcBef>
                <a:spcPts val="0"/>
              </a:spcBef>
              <a:spcAft>
                <a:spcPts val="0"/>
              </a:spcAft>
              <a:buSzPts val="1900"/>
              <a:buChar char="●"/>
            </a:pPr>
            <a:r>
              <a:rPr lang="en" sz="1900"/>
              <a:t>Todxs generamos un montón de basura para nuestros textos. Pero luego limpiamos.</a:t>
            </a:r>
            <a:endParaRPr sz="1900"/>
          </a:p>
          <a:p>
            <a:pPr indent="0" lvl="0" marL="914400" rtl="0" algn="l">
              <a:spcBef>
                <a:spcPts val="0"/>
              </a:spcBef>
              <a:spcAft>
                <a:spcPts val="0"/>
              </a:spcAft>
              <a:buNone/>
            </a:pPr>
            <a:r>
              <a:t/>
            </a:r>
            <a:endParaRPr sz="1900"/>
          </a:p>
          <a:p>
            <a:pPr indent="-349250" lvl="0" marL="457200" rtl="0" algn="l">
              <a:spcBef>
                <a:spcPts val="0"/>
              </a:spcBef>
              <a:spcAft>
                <a:spcPts val="0"/>
              </a:spcAft>
              <a:buSzPts val="1900"/>
              <a:buChar char="●"/>
            </a:pPr>
            <a:r>
              <a:rPr lang="en" sz="1900"/>
              <a:t>No podemos comparar nuestro primer borrador con el texto final propio o de un colega (que ya está publicado). Eso es una comparación injusta (y la mejor manera de dejar de escribir).</a:t>
            </a:r>
            <a:endParaRPr sz="1900"/>
          </a:p>
          <a:p>
            <a:pPr indent="0" lvl="0" marL="914400" rtl="0" algn="l">
              <a:spcBef>
                <a:spcPts val="0"/>
              </a:spcBef>
              <a:spcAft>
                <a:spcPts val="0"/>
              </a:spcAft>
              <a:buNone/>
            </a:pPr>
            <a:r>
              <a:t/>
            </a:r>
            <a:endParaRPr sz="1900"/>
          </a:p>
          <a:p>
            <a:pPr indent="-349250" lvl="0" marL="457200" rtl="0" algn="l">
              <a:spcBef>
                <a:spcPts val="0"/>
              </a:spcBef>
              <a:spcAft>
                <a:spcPts val="0"/>
              </a:spcAft>
              <a:buClr>
                <a:schemeClr val="lt2"/>
              </a:buClr>
              <a:buSzPts val="1900"/>
              <a:buChar char="●"/>
            </a:pPr>
            <a:r>
              <a:rPr lang="en" sz="1900">
                <a:solidFill>
                  <a:schemeClr val="lt2"/>
                </a:solidFill>
              </a:rPr>
              <a:t>Con cada texto hay que darse permiso para ESCRIBIR “MAL” en la fase inicial. No existe un primer texto perfecto. </a:t>
            </a:r>
            <a:endParaRPr sz="1900">
              <a:solidFill>
                <a:schemeClr val="lt2"/>
              </a:solidFill>
            </a:endParaRPr>
          </a:p>
          <a:p>
            <a:pPr indent="0" lvl="0" marL="0" rtl="0" algn="l">
              <a:spcBef>
                <a:spcPts val="0"/>
              </a:spcBef>
              <a:spcAft>
                <a:spcPts val="1600"/>
              </a:spcAft>
              <a:buNone/>
            </a:pPr>
            <a:r>
              <a:t/>
            </a:r>
            <a:endParaRPr sz="1900"/>
          </a:p>
        </p:txBody>
      </p:sp>
      <p:sp>
        <p:nvSpPr>
          <p:cNvPr id="171" name="Google Shape;171;p32"/>
          <p:cNvSpPr txBox="1"/>
          <p:nvPr>
            <p:ph type="title"/>
          </p:nvPr>
        </p:nvSpPr>
        <p:spPr>
          <a:xfrm>
            <a:off x="725850" y="507150"/>
            <a:ext cx="76923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¿Cómo sería bueno relacionarse con el primer borrador? </a:t>
            </a:r>
            <a:endParaRPr b="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3"/>
          <p:cNvSpPr/>
          <p:nvPr/>
        </p:nvSpPr>
        <p:spPr>
          <a:xfrm>
            <a:off x="-60500" y="-169425"/>
            <a:ext cx="4417500" cy="531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3"/>
          <p:cNvSpPr txBox="1"/>
          <p:nvPr/>
        </p:nvSpPr>
        <p:spPr>
          <a:xfrm>
            <a:off x="387275" y="2154225"/>
            <a:ext cx="28200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700">
              <a:solidFill>
                <a:schemeClr val="lt1"/>
              </a:solidFill>
              <a:latin typeface="Old Standard TT"/>
              <a:ea typeface="Old Standard TT"/>
              <a:cs typeface="Old Standard TT"/>
              <a:sym typeface="Old Standard TT"/>
            </a:endParaRPr>
          </a:p>
        </p:txBody>
      </p:sp>
      <p:cxnSp>
        <p:nvCxnSpPr>
          <p:cNvPr id="178" name="Google Shape;178;p33"/>
          <p:cNvCxnSpPr/>
          <p:nvPr/>
        </p:nvCxnSpPr>
        <p:spPr>
          <a:xfrm>
            <a:off x="520400" y="4465775"/>
            <a:ext cx="653400" cy="0"/>
          </a:xfrm>
          <a:prstGeom prst="straightConnector1">
            <a:avLst/>
          </a:prstGeom>
          <a:noFill/>
          <a:ln cap="flat" cmpd="sng" w="19050">
            <a:solidFill>
              <a:schemeClr val="lt1"/>
            </a:solidFill>
            <a:prstDash val="solid"/>
            <a:round/>
            <a:headEnd len="med" w="med" type="none"/>
            <a:tailEnd len="med" w="med" type="none"/>
          </a:ln>
        </p:spPr>
      </p:cxnSp>
      <p:pic>
        <p:nvPicPr>
          <p:cNvPr id="179" name="Google Shape;179;p33"/>
          <p:cNvPicPr preferRelativeResize="0"/>
          <p:nvPr/>
        </p:nvPicPr>
        <p:blipFill>
          <a:blip r:embed="rId3">
            <a:alphaModFix/>
          </a:blip>
          <a:stretch>
            <a:fillRect/>
          </a:stretch>
        </p:blipFill>
        <p:spPr>
          <a:xfrm>
            <a:off x="338750" y="249313"/>
            <a:ext cx="4482199" cy="4475520"/>
          </a:xfrm>
          <a:prstGeom prst="rect">
            <a:avLst/>
          </a:prstGeom>
          <a:noFill/>
          <a:ln>
            <a:noFill/>
          </a:ln>
        </p:spPr>
      </p:pic>
      <p:sp>
        <p:nvSpPr>
          <p:cNvPr id="180" name="Google Shape;180;p33"/>
          <p:cNvSpPr txBox="1"/>
          <p:nvPr/>
        </p:nvSpPr>
        <p:spPr>
          <a:xfrm>
            <a:off x="5182800" y="493725"/>
            <a:ext cx="3398100" cy="398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chemeClr val="dk1"/>
                </a:solidFill>
                <a:latin typeface="Old Standard TT"/>
                <a:ea typeface="Old Standard TT"/>
                <a:cs typeface="Old Standard TT"/>
                <a:sym typeface="Old Standard TT"/>
              </a:rPr>
              <a:t>¿Por qué es importante esa primera escritura desprolija?</a:t>
            </a:r>
            <a:endParaRPr b="1" sz="1900">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t/>
            </a:r>
            <a:endParaRPr sz="1900">
              <a:solidFill>
                <a:schemeClr val="dk1"/>
              </a:solidFill>
              <a:latin typeface="Old Standard TT"/>
              <a:ea typeface="Old Standard TT"/>
              <a:cs typeface="Old Standard TT"/>
              <a:sym typeface="Old Standard TT"/>
            </a:endParaRPr>
          </a:p>
          <a:p>
            <a:pPr indent="-349250" lvl="0" marL="457200" rtl="0" algn="l">
              <a:spcBef>
                <a:spcPts val="0"/>
              </a:spcBef>
              <a:spcAft>
                <a:spcPts val="0"/>
              </a:spcAft>
              <a:buClr>
                <a:schemeClr val="dk1"/>
              </a:buClr>
              <a:buSzPts val="1900"/>
              <a:buFont typeface="Old Standard TT"/>
              <a:buChar char="●"/>
            </a:pPr>
            <a:r>
              <a:rPr lang="en" sz="1900">
                <a:solidFill>
                  <a:schemeClr val="dk1"/>
                </a:solidFill>
                <a:latin typeface="Old Standard TT"/>
                <a:ea typeface="Old Standard TT"/>
                <a:cs typeface="Old Standard TT"/>
                <a:sym typeface="Old Standard TT"/>
              </a:rPr>
              <a:t>Ayuda a pensar y a pulir nuestras ideas: el pensamiento se vuelve algo material fuera de nuestra cabeza. </a:t>
            </a:r>
            <a:endParaRPr sz="1900">
              <a:solidFill>
                <a:schemeClr val="dk1"/>
              </a:solidFill>
              <a:latin typeface="Old Standard TT"/>
              <a:ea typeface="Old Standard TT"/>
              <a:cs typeface="Old Standard TT"/>
              <a:sym typeface="Old Standard TT"/>
            </a:endParaRPr>
          </a:p>
          <a:p>
            <a:pPr indent="0" lvl="0" marL="457200" rtl="0" algn="l">
              <a:spcBef>
                <a:spcPts val="0"/>
              </a:spcBef>
              <a:spcAft>
                <a:spcPts val="0"/>
              </a:spcAft>
              <a:buNone/>
            </a:pPr>
            <a:r>
              <a:t/>
            </a:r>
            <a:endParaRPr sz="1900">
              <a:solidFill>
                <a:schemeClr val="dk1"/>
              </a:solidFill>
              <a:latin typeface="Old Standard TT"/>
              <a:ea typeface="Old Standard TT"/>
              <a:cs typeface="Old Standard TT"/>
              <a:sym typeface="Old Standard TT"/>
            </a:endParaRPr>
          </a:p>
          <a:p>
            <a:pPr indent="-349250" lvl="0" marL="457200" rtl="0" algn="l">
              <a:spcBef>
                <a:spcPts val="0"/>
              </a:spcBef>
              <a:spcAft>
                <a:spcPts val="0"/>
              </a:spcAft>
              <a:buClr>
                <a:schemeClr val="dk1"/>
              </a:buClr>
              <a:buSzPts val="1900"/>
              <a:buFont typeface="Old Standard TT"/>
              <a:buChar char="●"/>
            </a:pPr>
            <a:r>
              <a:rPr lang="en" sz="1900">
                <a:solidFill>
                  <a:schemeClr val="dk1"/>
                </a:solidFill>
                <a:latin typeface="Old Standard TT"/>
                <a:ea typeface="Old Standard TT"/>
                <a:cs typeface="Old Standard TT"/>
                <a:sym typeface="Old Standard TT"/>
              </a:rPr>
              <a:t>El texto que buscamos va apareciendo en la práctica iterativa que es la escritura. </a:t>
            </a:r>
            <a:endParaRPr sz="19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4"/>
          <p:cNvSpPr/>
          <p:nvPr/>
        </p:nvSpPr>
        <p:spPr>
          <a:xfrm>
            <a:off x="-60500" y="-169425"/>
            <a:ext cx="4417500" cy="531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34"/>
          <p:cNvSpPr txBox="1"/>
          <p:nvPr/>
        </p:nvSpPr>
        <p:spPr>
          <a:xfrm>
            <a:off x="387275" y="2154225"/>
            <a:ext cx="28200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700">
              <a:solidFill>
                <a:schemeClr val="lt1"/>
              </a:solidFill>
              <a:latin typeface="Old Standard TT"/>
              <a:ea typeface="Old Standard TT"/>
              <a:cs typeface="Old Standard TT"/>
              <a:sym typeface="Old Standard TT"/>
            </a:endParaRPr>
          </a:p>
        </p:txBody>
      </p:sp>
      <p:cxnSp>
        <p:nvCxnSpPr>
          <p:cNvPr id="187" name="Google Shape;187;p34"/>
          <p:cNvCxnSpPr/>
          <p:nvPr/>
        </p:nvCxnSpPr>
        <p:spPr>
          <a:xfrm>
            <a:off x="520400" y="4465775"/>
            <a:ext cx="653400" cy="0"/>
          </a:xfrm>
          <a:prstGeom prst="straightConnector1">
            <a:avLst/>
          </a:prstGeom>
          <a:noFill/>
          <a:ln cap="flat" cmpd="sng" w="19050">
            <a:solidFill>
              <a:schemeClr val="lt1"/>
            </a:solidFill>
            <a:prstDash val="solid"/>
            <a:round/>
            <a:headEnd len="med" w="med" type="none"/>
            <a:tailEnd len="med" w="med" type="none"/>
          </a:ln>
        </p:spPr>
      </p:cxnSp>
      <p:pic>
        <p:nvPicPr>
          <p:cNvPr id="188" name="Google Shape;188;p34"/>
          <p:cNvPicPr preferRelativeResize="0"/>
          <p:nvPr/>
        </p:nvPicPr>
        <p:blipFill>
          <a:blip r:embed="rId3">
            <a:alphaModFix/>
          </a:blip>
          <a:stretch>
            <a:fillRect/>
          </a:stretch>
        </p:blipFill>
        <p:spPr>
          <a:xfrm>
            <a:off x="338750" y="249313"/>
            <a:ext cx="4482199" cy="4475520"/>
          </a:xfrm>
          <a:prstGeom prst="rect">
            <a:avLst/>
          </a:prstGeom>
          <a:noFill/>
          <a:ln>
            <a:noFill/>
          </a:ln>
        </p:spPr>
      </p:pic>
      <p:sp>
        <p:nvSpPr>
          <p:cNvPr id="189" name="Google Shape;189;p34"/>
          <p:cNvSpPr txBox="1"/>
          <p:nvPr/>
        </p:nvSpPr>
        <p:spPr>
          <a:xfrm>
            <a:off x="5350225" y="870900"/>
            <a:ext cx="3397800" cy="281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900">
              <a:latin typeface="Old Standard TT"/>
              <a:ea typeface="Old Standard TT"/>
              <a:cs typeface="Old Standard TT"/>
              <a:sym typeface="Old Standard TT"/>
            </a:endParaRPr>
          </a:p>
          <a:p>
            <a:pPr indent="-349250" lvl="0" marL="457200" rtl="0" algn="l">
              <a:spcBef>
                <a:spcPts val="0"/>
              </a:spcBef>
              <a:spcAft>
                <a:spcPts val="0"/>
              </a:spcAft>
              <a:buSzPts val="1900"/>
              <a:buFont typeface="Old Standard TT"/>
              <a:buChar char="●"/>
            </a:pPr>
            <a:r>
              <a:rPr b="1" lang="en" sz="1900">
                <a:latin typeface="Old Standard TT"/>
                <a:ea typeface="Old Standard TT"/>
                <a:cs typeface="Old Standard TT"/>
                <a:sym typeface="Old Standard TT"/>
              </a:rPr>
              <a:t>¡ES LA ÚNICA MANERA DE AVANZAR!</a:t>
            </a:r>
            <a:endParaRPr b="1" sz="1900">
              <a:latin typeface="Old Standard TT"/>
              <a:ea typeface="Old Standard TT"/>
              <a:cs typeface="Old Standard TT"/>
              <a:sym typeface="Old Standard TT"/>
            </a:endParaRPr>
          </a:p>
          <a:p>
            <a:pPr indent="0" lvl="0" marL="457200" rtl="0" algn="l">
              <a:spcBef>
                <a:spcPts val="0"/>
              </a:spcBef>
              <a:spcAft>
                <a:spcPts val="0"/>
              </a:spcAft>
              <a:buNone/>
            </a:pPr>
            <a:r>
              <a:t/>
            </a:r>
            <a:endParaRPr sz="1900">
              <a:latin typeface="Old Standard TT"/>
              <a:ea typeface="Old Standard TT"/>
              <a:cs typeface="Old Standard TT"/>
              <a:sym typeface="Old Standard TT"/>
            </a:endParaRPr>
          </a:p>
          <a:p>
            <a:pPr indent="-349250" lvl="0" marL="457200" rtl="0" algn="l">
              <a:spcBef>
                <a:spcPts val="0"/>
              </a:spcBef>
              <a:spcAft>
                <a:spcPts val="0"/>
              </a:spcAft>
              <a:buSzPts val="1900"/>
              <a:buFont typeface="Old Standard TT"/>
              <a:buChar char="●"/>
            </a:pPr>
            <a:r>
              <a:rPr lang="en" sz="1900">
                <a:latin typeface="Old Standard TT"/>
                <a:ea typeface="Old Standard TT"/>
                <a:cs typeface="Old Standard TT"/>
                <a:sym typeface="Old Standard TT"/>
              </a:rPr>
              <a:t>La primera escritura </a:t>
            </a:r>
            <a:r>
              <a:rPr b="1" lang="en" sz="1900">
                <a:latin typeface="Old Standard TT"/>
                <a:ea typeface="Old Standard TT"/>
                <a:cs typeface="Old Standard TT"/>
                <a:sym typeface="Old Standard TT"/>
              </a:rPr>
              <a:t>es motivo de celebración (Jufresa).</a:t>
            </a:r>
            <a:r>
              <a:rPr lang="en" sz="1900">
                <a:latin typeface="Old Standard TT"/>
                <a:ea typeface="Old Standard TT"/>
                <a:cs typeface="Old Standard TT"/>
                <a:sym typeface="Old Standard TT"/>
              </a:rPr>
              <a:t> </a:t>
            </a:r>
            <a:endParaRPr sz="1900">
              <a:latin typeface="Old Standard TT"/>
              <a:ea typeface="Old Standard TT"/>
              <a:cs typeface="Old Standard TT"/>
              <a:sym typeface="Old Standard TT"/>
            </a:endParaRPr>
          </a:p>
          <a:p>
            <a:pPr indent="0" lvl="0" marL="0" rtl="0" algn="l">
              <a:spcBef>
                <a:spcPts val="0"/>
              </a:spcBef>
              <a:spcAft>
                <a:spcPts val="0"/>
              </a:spcAft>
              <a:buNone/>
            </a:pPr>
            <a:r>
              <a:t/>
            </a:r>
            <a:endParaRPr sz="1900">
              <a:latin typeface="Old Standard TT"/>
              <a:ea typeface="Old Standard TT"/>
              <a:cs typeface="Old Standard TT"/>
              <a:sym typeface="Old Standard T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5"/>
          <p:cNvSpPr/>
          <p:nvPr/>
        </p:nvSpPr>
        <p:spPr>
          <a:xfrm>
            <a:off x="-60500" y="-169425"/>
            <a:ext cx="4417500" cy="531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35"/>
          <p:cNvSpPr txBox="1"/>
          <p:nvPr/>
        </p:nvSpPr>
        <p:spPr>
          <a:xfrm>
            <a:off x="387275" y="2154225"/>
            <a:ext cx="28200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700">
              <a:solidFill>
                <a:schemeClr val="lt1"/>
              </a:solidFill>
              <a:latin typeface="Old Standard TT"/>
              <a:ea typeface="Old Standard TT"/>
              <a:cs typeface="Old Standard TT"/>
              <a:sym typeface="Old Standard TT"/>
            </a:endParaRPr>
          </a:p>
        </p:txBody>
      </p:sp>
      <p:cxnSp>
        <p:nvCxnSpPr>
          <p:cNvPr id="196" name="Google Shape;196;p35"/>
          <p:cNvCxnSpPr/>
          <p:nvPr/>
        </p:nvCxnSpPr>
        <p:spPr>
          <a:xfrm>
            <a:off x="520400" y="4465775"/>
            <a:ext cx="653400" cy="0"/>
          </a:xfrm>
          <a:prstGeom prst="straightConnector1">
            <a:avLst/>
          </a:prstGeom>
          <a:noFill/>
          <a:ln cap="flat" cmpd="sng" w="19050">
            <a:solidFill>
              <a:schemeClr val="lt1"/>
            </a:solidFill>
            <a:prstDash val="solid"/>
            <a:round/>
            <a:headEnd len="med" w="med" type="none"/>
            <a:tailEnd len="med" w="med" type="none"/>
          </a:ln>
        </p:spPr>
      </p:cxnSp>
      <p:pic>
        <p:nvPicPr>
          <p:cNvPr id="197" name="Google Shape;197;p35"/>
          <p:cNvPicPr preferRelativeResize="0"/>
          <p:nvPr/>
        </p:nvPicPr>
        <p:blipFill>
          <a:blip r:embed="rId3">
            <a:alphaModFix/>
          </a:blip>
          <a:stretch>
            <a:fillRect/>
          </a:stretch>
        </p:blipFill>
        <p:spPr>
          <a:xfrm>
            <a:off x="338750" y="249313"/>
            <a:ext cx="4482199" cy="4475520"/>
          </a:xfrm>
          <a:prstGeom prst="rect">
            <a:avLst/>
          </a:prstGeom>
          <a:noFill/>
          <a:ln>
            <a:noFill/>
          </a:ln>
        </p:spPr>
      </p:pic>
      <p:sp>
        <p:nvSpPr>
          <p:cNvPr id="198" name="Google Shape;198;p35"/>
          <p:cNvSpPr txBox="1"/>
          <p:nvPr/>
        </p:nvSpPr>
        <p:spPr>
          <a:xfrm>
            <a:off x="5341050" y="72525"/>
            <a:ext cx="3397800" cy="499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900">
              <a:latin typeface="Old Standard TT"/>
              <a:ea typeface="Old Standard TT"/>
              <a:cs typeface="Old Standard TT"/>
              <a:sym typeface="Old Standard TT"/>
            </a:endParaRPr>
          </a:p>
          <a:p>
            <a:pPr indent="0" lvl="0" marL="457200" rtl="0" algn="l">
              <a:spcBef>
                <a:spcPts val="0"/>
              </a:spcBef>
              <a:spcAft>
                <a:spcPts val="0"/>
              </a:spcAft>
              <a:buNone/>
            </a:pPr>
            <a:r>
              <a:t/>
            </a:r>
            <a:endParaRPr sz="1900">
              <a:latin typeface="Old Standard TT"/>
              <a:ea typeface="Old Standard TT"/>
              <a:cs typeface="Old Standard TT"/>
              <a:sym typeface="Old Standard TT"/>
            </a:endParaRPr>
          </a:p>
          <a:p>
            <a:pPr indent="-336550" lvl="0" marL="457200" rtl="0" algn="l">
              <a:spcBef>
                <a:spcPts val="0"/>
              </a:spcBef>
              <a:spcAft>
                <a:spcPts val="0"/>
              </a:spcAft>
              <a:buClr>
                <a:schemeClr val="dk1"/>
              </a:buClr>
              <a:buSzPts val="1700"/>
              <a:buFont typeface="Old Standard TT"/>
              <a:buChar char="●"/>
            </a:pPr>
            <a:r>
              <a:rPr lang="en" sz="1700">
                <a:solidFill>
                  <a:schemeClr val="dk1"/>
                </a:solidFill>
                <a:latin typeface="Old Standard TT"/>
                <a:ea typeface="Old Standard TT"/>
                <a:cs typeface="Old Standard TT"/>
                <a:sym typeface="Old Standard TT"/>
              </a:rPr>
              <a:t>Necesitamos una práctica que entregue la posibilidad de “escribir mal” y sentirnos bien con eso (bajar nuestras expectativas). En otro momento podremos editar y mejorar. </a:t>
            </a:r>
            <a:endParaRPr sz="1700">
              <a:solidFill>
                <a:schemeClr val="dk1"/>
              </a:solidFill>
              <a:latin typeface="Old Standard TT"/>
              <a:ea typeface="Old Standard TT"/>
              <a:cs typeface="Old Standard TT"/>
              <a:sym typeface="Old Standard TT"/>
            </a:endParaRPr>
          </a:p>
          <a:p>
            <a:pPr indent="0" lvl="0" marL="457200" rtl="0" algn="l">
              <a:spcBef>
                <a:spcPts val="0"/>
              </a:spcBef>
              <a:spcAft>
                <a:spcPts val="0"/>
              </a:spcAft>
              <a:buNone/>
            </a:pPr>
            <a:r>
              <a:t/>
            </a:r>
            <a:endParaRPr sz="1900">
              <a:solidFill>
                <a:schemeClr val="dk1"/>
              </a:solidFill>
              <a:latin typeface="Old Standard TT"/>
              <a:ea typeface="Old Standard TT"/>
              <a:cs typeface="Old Standard TT"/>
              <a:sym typeface="Old Standard TT"/>
            </a:endParaRPr>
          </a:p>
          <a:p>
            <a:pPr indent="-336550" lvl="0" marL="457200" rtl="0" algn="l">
              <a:lnSpc>
                <a:spcPct val="115000"/>
              </a:lnSpc>
              <a:spcBef>
                <a:spcPts val="0"/>
              </a:spcBef>
              <a:spcAft>
                <a:spcPts val="0"/>
              </a:spcAft>
              <a:buClr>
                <a:schemeClr val="dk1"/>
              </a:buClr>
              <a:buSzPts val="1700"/>
              <a:buFont typeface="Old Standard TT"/>
              <a:buChar char="●"/>
            </a:pPr>
            <a:r>
              <a:rPr lang="en" sz="1700">
                <a:solidFill>
                  <a:schemeClr val="dk1"/>
                </a:solidFill>
                <a:latin typeface="Old Standard TT"/>
                <a:ea typeface="Old Standard TT"/>
                <a:cs typeface="Old Standard TT"/>
                <a:sym typeface="Old Standard TT"/>
              </a:rPr>
              <a:t>Escribir mal nos permite escribir cada día, y </a:t>
            </a:r>
            <a:r>
              <a:rPr b="1" lang="en" sz="1700">
                <a:solidFill>
                  <a:schemeClr val="dk1"/>
                </a:solidFill>
                <a:latin typeface="Old Standard TT"/>
                <a:ea typeface="Old Standard TT"/>
                <a:cs typeface="Old Standard TT"/>
                <a:sym typeface="Old Standard TT"/>
              </a:rPr>
              <a:t>construir la práctica de escritura constante que es lo que rendirá frutos.</a:t>
            </a:r>
            <a:r>
              <a:rPr lang="en" sz="1700">
                <a:solidFill>
                  <a:schemeClr val="dk1"/>
                </a:solidFill>
                <a:latin typeface="Old Standard TT"/>
                <a:ea typeface="Old Standard TT"/>
                <a:cs typeface="Old Standard TT"/>
                <a:sym typeface="Old Standard TT"/>
              </a:rPr>
              <a:t>(Elbow, 1998).</a:t>
            </a:r>
            <a:endParaRPr sz="1700">
              <a:solidFill>
                <a:schemeClr val="dk1"/>
              </a:solidFill>
              <a:latin typeface="Old Standard TT"/>
              <a:ea typeface="Old Standard TT"/>
              <a:cs typeface="Old Standard TT"/>
              <a:sym typeface="Old Standard TT"/>
            </a:endParaRPr>
          </a:p>
          <a:p>
            <a:pPr indent="0" lvl="0" marL="457200" rtl="0" algn="l">
              <a:spcBef>
                <a:spcPts val="0"/>
              </a:spcBef>
              <a:spcAft>
                <a:spcPts val="0"/>
              </a:spcAft>
              <a:buNone/>
            </a:pPr>
            <a:r>
              <a:t/>
            </a:r>
            <a:endParaRPr sz="1900">
              <a:latin typeface="Old Standard TT"/>
              <a:ea typeface="Old Standard TT"/>
              <a:cs typeface="Old Standard TT"/>
              <a:sym typeface="Old Standard T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6"/>
          <p:cNvSpPr/>
          <p:nvPr/>
        </p:nvSpPr>
        <p:spPr>
          <a:xfrm>
            <a:off x="378650" y="3395600"/>
            <a:ext cx="1252500" cy="6342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36"/>
          <p:cNvSpPr txBox="1"/>
          <p:nvPr>
            <p:ph type="title"/>
          </p:nvPr>
        </p:nvSpPr>
        <p:spPr>
          <a:xfrm>
            <a:off x="512700" y="1564725"/>
            <a:ext cx="8118600" cy="246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300"/>
              <a:t>MITO 2: </a:t>
            </a:r>
            <a:endParaRPr sz="3300"/>
          </a:p>
          <a:p>
            <a:pPr indent="0" lvl="0" marL="457200" rtl="0" algn="ctr">
              <a:spcBef>
                <a:spcPts val="0"/>
              </a:spcBef>
              <a:spcAft>
                <a:spcPts val="0"/>
              </a:spcAft>
              <a:buNone/>
            </a:pPr>
            <a:r>
              <a:rPr lang="en" sz="3300"/>
              <a:t>Escribir bien es un talento innato </a:t>
            </a:r>
            <a:endParaRPr sz="33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7"/>
          <p:cNvSpPr txBox="1"/>
          <p:nvPr>
            <p:ph type="title"/>
          </p:nvPr>
        </p:nvSpPr>
        <p:spPr>
          <a:xfrm>
            <a:off x="490250" y="526350"/>
            <a:ext cx="74673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000"/>
              <a:t>¿Te consideras bueno o malo para escribir? </a:t>
            </a:r>
            <a:endParaRPr sz="3000"/>
          </a:p>
          <a:p>
            <a:pPr indent="0" lvl="0" marL="0" rtl="0" algn="l">
              <a:spcBef>
                <a:spcPts val="0"/>
              </a:spcBef>
              <a:spcAft>
                <a:spcPts val="0"/>
              </a:spcAft>
              <a:buNone/>
            </a:pPr>
            <a:r>
              <a:t/>
            </a:r>
            <a:endParaRPr sz="3000"/>
          </a:p>
          <a:p>
            <a:pPr indent="0" lvl="0" marL="0" rtl="0" algn="l">
              <a:spcBef>
                <a:spcPts val="0"/>
              </a:spcBef>
              <a:spcAft>
                <a:spcPts val="0"/>
              </a:spcAft>
              <a:buNone/>
            </a:pPr>
            <a:r>
              <a:t/>
            </a:r>
            <a:endParaRPr sz="3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8"/>
          <p:cNvSpPr txBox="1"/>
          <p:nvPr>
            <p:ph type="title"/>
          </p:nvPr>
        </p:nvSpPr>
        <p:spPr>
          <a:xfrm>
            <a:off x="311700" y="612450"/>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Escribir NO es una habilidad innata: se practica</a:t>
            </a:r>
            <a:endParaRPr b="1"/>
          </a:p>
          <a:p>
            <a:pPr indent="0" lvl="0" marL="0" rtl="0" algn="l">
              <a:spcBef>
                <a:spcPts val="0"/>
              </a:spcBef>
              <a:spcAft>
                <a:spcPts val="0"/>
              </a:spcAft>
              <a:buNone/>
            </a:pPr>
            <a:r>
              <a:t/>
            </a:r>
            <a:endParaRPr b="1"/>
          </a:p>
        </p:txBody>
      </p:sp>
      <p:sp>
        <p:nvSpPr>
          <p:cNvPr id="215" name="Google Shape;215;p38"/>
          <p:cNvSpPr txBox="1"/>
          <p:nvPr>
            <p:ph idx="1" type="body"/>
          </p:nvPr>
        </p:nvSpPr>
        <p:spPr>
          <a:xfrm>
            <a:off x="449475" y="1582275"/>
            <a:ext cx="7990500" cy="2328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sz="1800"/>
              <a:t>Podemos tener habilidades, pero escribir es algo que se practica y se aprende. ¿Cuántas veces antes hemos escrito una tesis?</a:t>
            </a:r>
            <a:endParaRPr sz="1800"/>
          </a:p>
          <a:p>
            <a:pPr indent="-342900" lvl="0" marL="457200" rtl="0" algn="l">
              <a:spcBef>
                <a:spcPts val="1600"/>
              </a:spcBef>
              <a:spcAft>
                <a:spcPts val="0"/>
              </a:spcAft>
              <a:buSzPts val="1800"/>
              <a:buAutoNum type="arabicPeriod"/>
            </a:pPr>
            <a:r>
              <a:rPr lang="en" sz="1800"/>
              <a:t>Escribir nunca deja de ser difícil porque escribir y fundamentar ideas es un acto complejo.</a:t>
            </a:r>
            <a:endParaRPr sz="1800"/>
          </a:p>
          <a:p>
            <a:pPr indent="-342900" lvl="0" marL="457200" rtl="0" algn="l">
              <a:spcBef>
                <a:spcPts val="1600"/>
              </a:spcBef>
              <a:spcAft>
                <a:spcPts val="0"/>
              </a:spcAft>
              <a:buSzPts val="1800"/>
              <a:buAutoNum type="arabicPeriod"/>
            </a:pPr>
            <a:r>
              <a:rPr lang="en" sz="1800"/>
              <a:t>Escribir es un camino que se recorre y no una habilidad innata.</a:t>
            </a:r>
            <a:endParaRPr sz="1800"/>
          </a:p>
          <a:p>
            <a:pPr indent="0" lvl="0" marL="0" rtl="0" algn="l">
              <a:spcBef>
                <a:spcPts val="1600"/>
              </a:spcBef>
              <a:spcAft>
                <a:spcPts val="1600"/>
              </a:spcAft>
              <a:buNone/>
            </a:pPr>
            <a:r>
              <a:t/>
            </a:r>
            <a:endParaRPr sz="19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9"/>
          <p:cNvSpPr txBox="1"/>
          <p:nvPr>
            <p:ph type="title"/>
          </p:nvPr>
        </p:nvSpPr>
        <p:spPr>
          <a:xfrm>
            <a:off x="490250" y="526350"/>
            <a:ext cx="77427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000"/>
              <a:t>La invitación:</a:t>
            </a:r>
            <a:r>
              <a:rPr lang="en" sz="3000" u="sng"/>
              <a:t> </a:t>
            </a:r>
            <a:endParaRPr sz="3000" u="sng"/>
          </a:p>
          <a:p>
            <a:pPr indent="0" lvl="0" marL="0" rtl="0" algn="l">
              <a:spcBef>
                <a:spcPts val="0"/>
              </a:spcBef>
              <a:spcAft>
                <a:spcPts val="0"/>
              </a:spcAft>
              <a:buNone/>
            </a:pPr>
            <a:r>
              <a:t/>
            </a:r>
            <a:endParaRPr sz="3000" u="sng"/>
          </a:p>
          <a:p>
            <a:pPr indent="-349250" lvl="0" marL="457200" rtl="0" algn="l">
              <a:spcBef>
                <a:spcPts val="0"/>
              </a:spcBef>
              <a:spcAft>
                <a:spcPts val="0"/>
              </a:spcAft>
              <a:buSzPts val="1900"/>
              <a:buChar char="●"/>
            </a:pPr>
            <a:r>
              <a:rPr lang="en" sz="1900"/>
              <a:t>Dejar de pensar que se nace bueno para escribir. </a:t>
            </a:r>
            <a:endParaRPr sz="1900"/>
          </a:p>
          <a:p>
            <a:pPr indent="0" lvl="0" marL="0" rtl="0" algn="l">
              <a:spcBef>
                <a:spcPts val="0"/>
              </a:spcBef>
              <a:spcAft>
                <a:spcPts val="0"/>
              </a:spcAft>
              <a:buNone/>
            </a:pPr>
            <a:r>
              <a:t/>
            </a:r>
            <a:endParaRPr sz="1900"/>
          </a:p>
          <a:p>
            <a:pPr indent="-349250" lvl="0" marL="457200" rtl="0" algn="l">
              <a:spcBef>
                <a:spcPts val="0"/>
              </a:spcBef>
              <a:spcAft>
                <a:spcPts val="0"/>
              </a:spcAft>
              <a:buSzPts val="1900"/>
              <a:buChar char="●"/>
            </a:pPr>
            <a:r>
              <a:rPr lang="en" sz="1900"/>
              <a:t>Escribir y escribir, una y otra vez. </a:t>
            </a:r>
            <a:endParaRPr sz="1900"/>
          </a:p>
          <a:p>
            <a:pPr indent="0" lvl="0" marL="457200" rtl="0" algn="l">
              <a:spcBef>
                <a:spcPts val="0"/>
              </a:spcBef>
              <a:spcAft>
                <a:spcPts val="0"/>
              </a:spcAft>
              <a:buNone/>
            </a:pPr>
            <a:r>
              <a:t/>
            </a:r>
            <a:endParaRPr sz="1900"/>
          </a:p>
          <a:p>
            <a:pPr indent="-349250" lvl="0" marL="457200" rtl="0" algn="l">
              <a:spcBef>
                <a:spcPts val="0"/>
              </a:spcBef>
              <a:spcAft>
                <a:spcPts val="0"/>
              </a:spcAft>
              <a:buSzPts val="1900"/>
              <a:buChar char="●"/>
            </a:pPr>
            <a:r>
              <a:rPr lang="en" sz="1900"/>
              <a:t>Una “práctica profunda” nos permite crecer en maestría (Coyle).</a:t>
            </a:r>
            <a:endParaRPr sz="19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40"/>
          <p:cNvSpPr txBox="1"/>
          <p:nvPr>
            <p:ph type="ctrTitle"/>
          </p:nvPr>
        </p:nvSpPr>
        <p:spPr>
          <a:xfrm>
            <a:off x="512700" y="2045250"/>
            <a:ext cx="8118600" cy="1292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Miedo al lector hostil </a:t>
            </a:r>
            <a:endParaRPr/>
          </a:p>
        </p:txBody>
      </p:sp>
      <p:sp>
        <p:nvSpPr>
          <p:cNvPr id="226" name="Google Shape;226;p40"/>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Joli Jensen </a:t>
            </a:r>
            <a:endParaRPr/>
          </a:p>
          <a:p>
            <a:pPr indent="0" lvl="0" marL="0" rtl="0" algn="l">
              <a:spcBef>
                <a:spcPts val="0"/>
              </a:spcBef>
              <a:spcAft>
                <a:spcPts val="0"/>
              </a:spcAft>
              <a:buClr>
                <a:schemeClr val="dk1"/>
              </a:buClr>
              <a:buSzPts val="1100"/>
              <a:buFont typeface="Arial"/>
              <a:buNone/>
            </a:pPr>
            <a:r>
              <a:rPr lang="en"/>
              <a:t>“Write No Matter What” (2017)</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pic>
        <p:nvPicPr>
          <p:cNvPr id="231" name="Google Shape;231;p41"/>
          <p:cNvPicPr preferRelativeResize="0"/>
          <p:nvPr/>
        </p:nvPicPr>
        <p:blipFill>
          <a:blip r:embed="rId3">
            <a:alphaModFix/>
          </a:blip>
          <a:stretch>
            <a:fillRect/>
          </a:stretch>
        </p:blipFill>
        <p:spPr>
          <a:xfrm>
            <a:off x="6246650" y="152400"/>
            <a:ext cx="2744950" cy="4239243"/>
          </a:xfrm>
          <a:prstGeom prst="rect">
            <a:avLst/>
          </a:prstGeom>
          <a:noFill/>
          <a:ln>
            <a:noFill/>
          </a:ln>
        </p:spPr>
      </p:pic>
      <p:pic>
        <p:nvPicPr>
          <p:cNvPr id="232" name="Google Shape;232;p41"/>
          <p:cNvPicPr preferRelativeResize="0"/>
          <p:nvPr/>
        </p:nvPicPr>
        <p:blipFill>
          <a:blip r:embed="rId4">
            <a:alphaModFix/>
          </a:blip>
          <a:stretch>
            <a:fillRect/>
          </a:stretch>
        </p:blipFill>
        <p:spPr>
          <a:xfrm>
            <a:off x="152400" y="152400"/>
            <a:ext cx="5941850" cy="4110260"/>
          </a:xfrm>
          <a:prstGeom prst="rect">
            <a:avLst/>
          </a:prstGeom>
          <a:noFill/>
          <a:ln>
            <a:noFill/>
          </a:ln>
        </p:spPr>
      </p:pic>
      <p:sp>
        <p:nvSpPr>
          <p:cNvPr id="233" name="Google Shape;233;p41"/>
          <p:cNvSpPr txBox="1"/>
          <p:nvPr/>
        </p:nvSpPr>
        <p:spPr>
          <a:xfrm>
            <a:off x="152400" y="4391650"/>
            <a:ext cx="8608500" cy="555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Profesora Emerita en Media Studies, Cultura y Sociedad, University de Tulsa, EEUU. </a:t>
            </a:r>
            <a:endParaRPr sz="1500">
              <a:solidFill>
                <a:schemeClr val="dk1"/>
              </a:solidFill>
              <a:latin typeface="Times New Roman"/>
              <a:ea typeface="Times New Roman"/>
              <a:cs typeface="Times New Roman"/>
              <a:sym typeface="Times New Roman"/>
            </a:endParaRPr>
          </a:p>
          <a:p>
            <a:pPr indent="0" lvl="0" marL="0" rtl="0" algn="l">
              <a:spcBef>
                <a:spcPts val="400"/>
              </a:spcBef>
              <a:spcAft>
                <a:spcPts val="0"/>
              </a:spcAft>
              <a:buNone/>
            </a:pPr>
            <a:r>
              <a:t/>
            </a:r>
            <a:endParaRPr sz="1800">
              <a:solidFill>
                <a:schemeClr val="dk1"/>
              </a:solidFill>
              <a:latin typeface="Old Standard TT"/>
              <a:ea typeface="Old Standard TT"/>
              <a:cs typeface="Old Standard TT"/>
              <a:sym typeface="Old Standard T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2"/>
          <p:cNvSpPr txBox="1"/>
          <p:nvPr>
            <p:ph type="title"/>
          </p:nvPr>
        </p:nvSpPr>
        <p:spPr>
          <a:xfrm>
            <a:off x="478550" y="292550"/>
            <a:ext cx="7925400" cy="512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sz="3900"/>
          </a:p>
          <a:p>
            <a:pPr indent="0" lvl="0" marL="0" rtl="0" algn="l">
              <a:spcBef>
                <a:spcPts val="0"/>
              </a:spcBef>
              <a:spcAft>
                <a:spcPts val="0"/>
              </a:spcAft>
              <a:buNone/>
            </a:pPr>
            <a:r>
              <a:t/>
            </a:r>
            <a:endParaRPr sz="3900"/>
          </a:p>
        </p:txBody>
      </p:sp>
      <p:sp>
        <p:nvSpPr>
          <p:cNvPr id="239" name="Google Shape;239;p42"/>
          <p:cNvSpPr txBox="1"/>
          <p:nvPr/>
        </p:nvSpPr>
        <p:spPr>
          <a:xfrm>
            <a:off x="93267" y="4019250"/>
            <a:ext cx="1700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ld Standard TT"/>
                <a:ea typeface="Old Standard TT"/>
                <a:cs typeface="Old Standard TT"/>
                <a:sym typeface="Old Standard TT"/>
              </a:rPr>
              <a:t>Alberto Montt</a:t>
            </a:r>
            <a:endParaRPr>
              <a:latin typeface="Old Standard TT"/>
              <a:ea typeface="Old Standard TT"/>
              <a:cs typeface="Old Standard TT"/>
              <a:sym typeface="Old Standard TT"/>
            </a:endParaRPr>
          </a:p>
        </p:txBody>
      </p:sp>
      <p:pic>
        <p:nvPicPr>
          <p:cNvPr id="240" name="Google Shape;240;p42"/>
          <p:cNvPicPr preferRelativeResize="0"/>
          <p:nvPr/>
        </p:nvPicPr>
        <p:blipFill>
          <a:blip r:embed="rId3">
            <a:alphaModFix/>
          </a:blip>
          <a:stretch>
            <a:fillRect/>
          </a:stretch>
        </p:blipFill>
        <p:spPr>
          <a:xfrm>
            <a:off x="0" y="1124250"/>
            <a:ext cx="4494425" cy="2895000"/>
          </a:xfrm>
          <a:prstGeom prst="rect">
            <a:avLst/>
          </a:prstGeom>
          <a:noFill/>
          <a:ln>
            <a:noFill/>
          </a:ln>
        </p:spPr>
      </p:pic>
      <p:sp>
        <p:nvSpPr>
          <p:cNvPr id="241" name="Google Shape;241;p42"/>
          <p:cNvSpPr txBox="1"/>
          <p:nvPr/>
        </p:nvSpPr>
        <p:spPr>
          <a:xfrm>
            <a:off x="4922375" y="1401900"/>
            <a:ext cx="30924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latin typeface="Old Standard TT"/>
                <a:ea typeface="Old Standard TT"/>
                <a:cs typeface="Old Standard TT"/>
                <a:sym typeface="Old Standard TT"/>
              </a:rPr>
              <a:t>Dos </a:t>
            </a:r>
            <a:r>
              <a:rPr i="1" lang="en" sz="2000">
                <a:latin typeface="Old Standard TT"/>
                <a:ea typeface="Old Standard TT"/>
                <a:cs typeface="Old Standard TT"/>
                <a:sym typeface="Old Standard TT"/>
              </a:rPr>
              <a:t>demonios</a:t>
            </a:r>
            <a:r>
              <a:rPr lang="en" sz="2000">
                <a:latin typeface="Old Standard TT"/>
                <a:ea typeface="Old Standard TT"/>
                <a:cs typeface="Old Standard TT"/>
                <a:sym typeface="Old Standard TT"/>
              </a:rPr>
              <a:t> con los que nos debemos amigar: </a:t>
            </a:r>
            <a:endParaRPr sz="2000">
              <a:latin typeface="Old Standard TT"/>
              <a:ea typeface="Old Standard TT"/>
              <a:cs typeface="Old Standard TT"/>
              <a:sym typeface="Old Standard TT"/>
            </a:endParaRPr>
          </a:p>
          <a:p>
            <a:pPr indent="0" lvl="0" marL="0" rtl="0" algn="l">
              <a:spcBef>
                <a:spcPts val="0"/>
              </a:spcBef>
              <a:spcAft>
                <a:spcPts val="0"/>
              </a:spcAft>
              <a:buNone/>
            </a:pPr>
            <a:r>
              <a:t/>
            </a:r>
            <a:endParaRPr sz="2000">
              <a:latin typeface="Old Standard TT"/>
              <a:ea typeface="Old Standard TT"/>
              <a:cs typeface="Old Standard TT"/>
              <a:sym typeface="Old Standard TT"/>
            </a:endParaRPr>
          </a:p>
          <a:p>
            <a:pPr indent="0" lvl="0" marL="0" rtl="0" algn="l">
              <a:spcBef>
                <a:spcPts val="0"/>
              </a:spcBef>
              <a:spcAft>
                <a:spcPts val="0"/>
              </a:spcAft>
              <a:buNone/>
            </a:pPr>
            <a:r>
              <a:rPr lang="en" sz="2000">
                <a:latin typeface="Old Standard TT"/>
                <a:ea typeface="Old Standard TT"/>
                <a:cs typeface="Old Standard TT"/>
                <a:sym typeface="Old Standard TT"/>
              </a:rPr>
              <a:t>El deseo de ser </a:t>
            </a:r>
            <a:r>
              <a:rPr b="1" lang="en" sz="2000">
                <a:latin typeface="Old Standard TT"/>
                <a:ea typeface="Old Standard TT"/>
                <a:cs typeface="Old Standard TT"/>
                <a:sym typeface="Old Standard TT"/>
              </a:rPr>
              <a:t>admirados</a:t>
            </a:r>
            <a:r>
              <a:rPr lang="en" sz="2000">
                <a:latin typeface="Old Standard TT"/>
                <a:ea typeface="Old Standard TT"/>
                <a:cs typeface="Old Standard TT"/>
                <a:sym typeface="Old Standard TT"/>
              </a:rPr>
              <a:t> por nuestro trabajo y el miedo a ser </a:t>
            </a:r>
            <a:r>
              <a:rPr b="1" lang="en" sz="2000">
                <a:latin typeface="Old Standard TT"/>
                <a:ea typeface="Old Standard TT"/>
                <a:cs typeface="Old Standard TT"/>
                <a:sym typeface="Old Standard TT"/>
              </a:rPr>
              <a:t>atacados</a:t>
            </a:r>
            <a:r>
              <a:rPr lang="en" sz="2000">
                <a:latin typeface="Old Standard TT"/>
                <a:ea typeface="Old Standard TT"/>
                <a:cs typeface="Old Standard TT"/>
                <a:sym typeface="Old Standard TT"/>
              </a:rPr>
              <a:t> sin piedad.</a:t>
            </a:r>
            <a:endParaRPr sz="2000">
              <a:latin typeface="Old Standard TT"/>
              <a:ea typeface="Old Standard TT"/>
              <a:cs typeface="Old Standard TT"/>
              <a:sym typeface="Old Standard T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3"/>
          <p:cNvSpPr txBox="1"/>
          <p:nvPr>
            <p:ph type="title"/>
          </p:nvPr>
        </p:nvSpPr>
        <p:spPr>
          <a:xfrm>
            <a:off x="216425" y="585300"/>
            <a:ext cx="4045200" cy="3709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2500"/>
              <a:t> </a:t>
            </a:r>
            <a:r>
              <a:rPr b="1" lang="en" sz="2100"/>
              <a:t>1. Despersonalizar la experiencia</a:t>
            </a:r>
            <a:endParaRPr b="1" sz="2100"/>
          </a:p>
          <a:p>
            <a:pPr indent="0" lvl="0" marL="0" rtl="0" algn="ctr">
              <a:spcBef>
                <a:spcPts val="0"/>
              </a:spcBef>
              <a:spcAft>
                <a:spcPts val="0"/>
              </a:spcAft>
              <a:buNone/>
            </a:pPr>
            <a:r>
              <a:t/>
            </a:r>
            <a:endParaRPr b="1" sz="2100"/>
          </a:p>
          <a:p>
            <a:pPr indent="0" lvl="0" marL="0" rtl="0" algn="ctr">
              <a:spcBef>
                <a:spcPts val="0"/>
              </a:spcBef>
              <a:spcAft>
                <a:spcPts val="0"/>
              </a:spcAft>
              <a:buNone/>
            </a:pPr>
            <a:r>
              <a:rPr b="1" lang="en" sz="2100"/>
              <a:t>2. Concebir las críticas como ayuda</a:t>
            </a:r>
            <a:endParaRPr b="1" sz="2100"/>
          </a:p>
          <a:p>
            <a:pPr indent="0" lvl="0" marL="0" rtl="0" algn="ctr">
              <a:spcBef>
                <a:spcPts val="0"/>
              </a:spcBef>
              <a:spcAft>
                <a:spcPts val="0"/>
              </a:spcAft>
              <a:buNone/>
            </a:pPr>
            <a:r>
              <a:t/>
            </a:r>
            <a:endParaRPr b="1" sz="2100"/>
          </a:p>
          <a:p>
            <a:pPr indent="0" lvl="0" marL="0" rtl="0" algn="ctr">
              <a:spcBef>
                <a:spcPts val="0"/>
              </a:spcBef>
              <a:spcAft>
                <a:spcPts val="0"/>
              </a:spcAft>
              <a:buNone/>
            </a:pPr>
            <a:r>
              <a:rPr b="1" lang="en" sz="2100" u="sng"/>
              <a:t>3. Responderle al/a la lector/a hostil</a:t>
            </a:r>
            <a:endParaRPr b="1" sz="2100" u="sng"/>
          </a:p>
          <a:p>
            <a:pPr indent="0" lvl="0" marL="0" rtl="0" algn="ctr">
              <a:spcBef>
                <a:spcPts val="0"/>
              </a:spcBef>
              <a:spcAft>
                <a:spcPts val="0"/>
              </a:spcAft>
              <a:buNone/>
            </a:pPr>
            <a:r>
              <a:t/>
            </a:r>
            <a:endParaRPr b="1" sz="2100"/>
          </a:p>
          <a:p>
            <a:pPr indent="0" lvl="0" marL="0" rtl="0" algn="ctr">
              <a:spcBef>
                <a:spcPts val="0"/>
              </a:spcBef>
              <a:spcAft>
                <a:spcPts val="0"/>
              </a:spcAft>
              <a:buNone/>
            </a:pPr>
            <a:r>
              <a:rPr b="1" lang="en" sz="2100"/>
              <a:t>4. Escribir para un/a lector/a amable</a:t>
            </a:r>
            <a:endParaRPr b="1" sz="2100"/>
          </a:p>
        </p:txBody>
      </p:sp>
      <p:sp>
        <p:nvSpPr>
          <p:cNvPr id="247" name="Google Shape;247;p43"/>
          <p:cNvSpPr txBox="1"/>
          <p:nvPr>
            <p:ph idx="2" type="body"/>
          </p:nvPr>
        </p:nvSpPr>
        <p:spPr>
          <a:xfrm>
            <a:off x="4135475" y="448500"/>
            <a:ext cx="4572000" cy="3846300"/>
          </a:xfrm>
          <a:prstGeom prst="rect">
            <a:avLst/>
          </a:prstGeom>
        </p:spPr>
        <p:txBody>
          <a:bodyPr anchorCtr="0" anchor="ctr" bIns="91425" lIns="91425" spcFirstLastPara="1" rIns="91425" wrap="square" tIns="91425">
            <a:noAutofit/>
          </a:bodyPr>
          <a:lstStyle/>
          <a:p>
            <a:pPr indent="0" lvl="0" marL="0" rtl="0" algn="just">
              <a:spcBef>
                <a:spcPts val="0"/>
              </a:spcBef>
              <a:spcAft>
                <a:spcPts val="0"/>
              </a:spcAft>
              <a:buNone/>
            </a:pPr>
            <a:r>
              <a:t/>
            </a:r>
            <a:endParaRPr sz="2100"/>
          </a:p>
          <a:p>
            <a:pPr indent="0" lvl="0" marL="914400" rtl="0" algn="ctr">
              <a:spcBef>
                <a:spcPts val="1600"/>
              </a:spcBef>
              <a:spcAft>
                <a:spcPts val="1600"/>
              </a:spcAft>
              <a:buNone/>
            </a:pPr>
            <a:r>
              <a:rPr lang="en" sz="2100"/>
              <a:t>En una hoja imaginar a nuestro/a lector/a hostil y anotar todas las críticas despiadadas que creemos que nos hará. Luego, responderlas con coraje y amabilidad</a:t>
            </a:r>
            <a:endParaRPr sz="21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